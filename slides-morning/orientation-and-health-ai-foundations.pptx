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286000" cy="48985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22960" y="2011680"/>
            <a:ext cx="5303520" cy="411480"/>
          </a:xfrm>
          <a:prstGeom prst="roundRect">
            <a:avLst/>
          </a:prstGeom>
          <a:solidFill>
            <a:srgbClr val="285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AIT BRAIN LAB · MEDICAL ICT &amp; HEALTH AI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Arial"/>
              </a:defRPr>
            </a:pPr>
            <a:r>
              <a:t>Orientation &amp; Intro to AI in Health Foundations</a:t>
            </a:r>
          </a:p>
          <a:p>
            <a:pPr>
              <a:spcBef>
                <a:spcPts val="1200"/>
              </a:spcBef>
              <a:defRPr sz="1700">
                <a:solidFill>
                  <a:srgbClr val="94BA33"/>
                </a:solidFill>
                <a:latin typeface="Arial"/>
              </a:defRPr>
            </a:pPr>
            <a:r>
              <a:t>Health Data Ecosystems, Digital Health Standards (HL7 v2, FHIR R4), and AI-Readiness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754880"/>
            <a:ext cx="10515600" cy="1280160"/>
          </a:xfrm>
          <a:prstGeom prst="roundRect">
            <a:avLst/>
          </a:prstGeom>
          <a:solidFill>
            <a:srgbClr val="285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Morning Theory Session: 10:00 – 12:00  |  Venue: Library Studio Room</a:t>
            </a:r>
          </a:p>
          <a:p>
            <a:pPr>
              <a:spcBef>
                <a:spcPts val="600"/>
              </a:spcBef>
              <a:defRPr sz="1200">
                <a:solidFill>
                  <a:srgbClr val="94BA33"/>
                </a:solidFill>
                <a:latin typeface="Arial"/>
              </a:defRPr>
            </a:pPr>
            <a:r>
              <a:t>Audience: 20 Undergraduate Engineering Students (IT, Agricultural Engineering, Mechanical Engineering)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WORKSHOP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The Two Halves of Today: Foundations to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Why healthcare machine learning is 80% data curation and standardisation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sz="1200" b="1">
                <a:solidFill>
                  <a:srgbClr val="285C36"/>
                </a:solidFill>
                <a:latin typeface="Arial"/>
              </a:defRPr>
            </a:pPr>
            <a:r>
              <a:t>MORNING (10:00 – 12:00)</a:t>
            </a:r>
          </a:p>
          <a:p>
            <a:pPr>
              <a:spcBef>
                <a:spcPts val="600"/>
              </a:spcBef>
              <a:defRPr sz="1800" b="1">
                <a:solidFill>
                  <a:srgbClr val="1B3E24"/>
                </a:solidFill>
                <a:latin typeface="Arial"/>
              </a:defRPr>
            </a:pPr>
            <a:r>
              <a:t>Health Foundations &amp; Standards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Clinical IT Landscape: </a:t>
            </a:r>
            <a:r>
              <a:rPr b="0">
                <a:solidFill>
                  <a:srgbClr val="526458"/>
                </a:solidFill>
              </a:rPr>
              <a:t>How hospitals generate patient telemetry (EHR, LIS, RIS/PACS).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Legacy Standards (HL7 v2): </a:t>
            </a:r>
            <a:r>
              <a:rPr b="0">
                <a:solidFill>
                  <a:srgbClr val="526458"/>
                </a:solidFill>
              </a:rPr>
              <a:t>Message-based pipe-and-hat protocols powering hospitals since 1989.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Modern Standard (FHIR R4): </a:t>
            </a:r>
            <a:r>
              <a:rPr b="0">
                <a:solidFill>
                  <a:srgbClr val="526458"/>
                </a:solidFill>
              </a:rPr>
              <a:t>Web APIs, JSON payloads, resources, and coded vocabularies.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AI-Readiness: </a:t>
            </a:r>
            <a:r>
              <a:rPr b="0">
                <a:solidFill>
                  <a:srgbClr val="526458"/>
                </a:solidFill>
              </a:rPr>
              <a:t>Why machine learning cannot directly consume clinical event streams.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AIT Telehealth Case Study: </a:t>
            </a:r>
            <a:r>
              <a:rPr b="0">
                <a:solidFill>
                  <a:srgbClr val="526458"/>
                </a:solidFill>
              </a:rPr>
              <a:t>Connecting physical sensors (Raman glucose) to clinical standards.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sz="1200" b="1">
                <a:solidFill>
                  <a:srgbClr val="94BA33"/>
                </a:solidFill>
                <a:latin typeface="Arial"/>
              </a:defRPr>
            </a:pPr>
            <a:r>
              <a:t>AFTERNOON (14:00 – 16:00)</a:t>
            </a:r>
          </a:p>
          <a:p>
            <a:pPr>
              <a:spcBef>
                <a:spcPts val="600"/>
              </a:spcBef>
              <a:defRPr sz="1800" b="1">
                <a:solidFill>
                  <a:srgbClr val="1B3E24"/>
                </a:solidFill>
                <a:latin typeface="Arial"/>
              </a:defRPr>
            </a:pPr>
            <a:r>
              <a:t>From FHIR to Model (Hands-On)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Step 1 · Flatten FHIR: </a:t>
            </a:r>
            <a:r>
              <a:rPr b="0">
                <a:solidFill>
                  <a:srgbClr val="526458"/>
                </a:solidFill>
              </a:rPr>
              <a:t>Read real FHIR Bundles into a tabular dataframe.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Step 2 · Data Profiling: </a:t>
            </a:r>
            <a:r>
              <a:rPr b="0">
                <a:solidFill>
                  <a:srgbClr val="526458"/>
                </a:solidFill>
              </a:rPr>
              <a:t>Analyse class imbalance, missingness, and diagnostic baselines.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Step 3 · Train Pipelines: </a:t>
            </a:r>
            <a:r>
              <a:rPr b="0">
                <a:solidFill>
                  <a:srgbClr val="526458"/>
                </a:solidFill>
              </a:rPr>
              <a:t>Fit Logistic Regression &amp; Random Forest; sweep thresholds.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Step 4 · Unsupervised ML: </a:t>
            </a:r>
            <a:r>
              <a:rPr b="0">
                <a:solidFill>
                  <a:srgbClr val="526458"/>
                </a:solidFill>
              </a:rPr>
              <a:t>Discover natural patient clusters with K-Means.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Step 5 · Serve &amp; FHIR Out: </a:t>
            </a:r>
            <a:r>
              <a:rPr b="0">
                <a:solidFill>
                  <a:srgbClr val="526458"/>
                </a:solidFill>
              </a:rPr>
              <a:t>Run interactive Streamlit UI, FastAPI service, and export predictions back to FHIR.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RESEARCH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AIT Telehealth &amp; Assistive Systems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Four work packages connecting physical sensors and robotics to clinical cloud infrastructure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246888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000" b="1">
                <a:solidFill>
                  <a:srgbClr val="94BA33"/>
                </a:solidFill>
                <a:latin typeface="Arial"/>
              </a:defRPr>
            </a:pPr>
            <a:r>
              <a:t>WP1: OPTICAL GLUCOSE SENSING</a:t>
            </a:r>
          </a:p>
          <a:p>
            <a:pPr>
              <a:spcBef>
                <a:spcPts val="600"/>
              </a:spcBef>
              <a:defRPr sz="1400" b="1">
                <a:solidFill>
                  <a:srgbClr val="1B3E24"/>
                </a:solidFill>
                <a:latin typeface="Arial"/>
              </a:defRPr>
            </a:pPr>
            <a:r>
              <a:t>Non-Invasive Raman Sensor</a:t>
            </a:r>
          </a:p>
          <a:p>
            <a:pPr>
              <a:spcBef>
                <a:spcPts val="1000"/>
              </a:spcBef>
              <a:defRPr sz="1050">
                <a:solidFill>
                  <a:srgbClr val="142118"/>
                </a:solidFill>
                <a:latin typeface="Arial"/>
              </a:defRPr>
            </a:pPr>
            <a:r>
              <a:t>Measures blood glucose concentration without skin pricks using optical Raman laser spectroscopy.</a:t>
            </a:r>
          </a:p>
          <a:p>
            <a:pPr>
              <a:spcBef>
                <a:spcPts val="1200"/>
              </a:spcBef>
              <a:defRPr sz="950">
                <a:solidFill>
                  <a:srgbClr val="526458"/>
                </a:solidFill>
                <a:latin typeface="Arial"/>
              </a:defRPr>
            </a:pPr>
            <a:r>
              <a:t>POC App: github.com/akraradets/BloodGlucose-App</a:t>
            </a:r>
            <a:br/>
            <a:r>
              <a:t>Edge ML calibration models.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46888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000" b="1">
                <a:solidFill>
                  <a:srgbClr val="285C36"/>
                </a:solidFill>
                <a:latin typeface="Arial"/>
              </a:defRPr>
            </a:pPr>
            <a:r>
              <a:t>WP2: ACTIVITY &amp; FALL TELEMETRY</a:t>
            </a:r>
          </a:p>
          <a:p>
            <a:pPr>
              <a:spcBef>
                <a:spcPts val="600"/>
              </a:spcBef>
              <a:defRPr sz="1400" b="1">
                <a:solidFill>
                  <a:srgbClr val="1B3E24"/>
                </a:solidFill>
                <a:latin typeface="Arial"/>
              </a:defRPr>
            </a:pPr>
            <a:r>
              <a:t>Computer Vision &amp; Wi-Fi CSI</a:t>
            </a:r>
          </a:p>
          <a:p>
            <a:pPr>
              <a:spcBef>
                <a:spcPts val="1000"/>
              </a:spcBef>
              <a:defRPr sz="1050">
                <a:solidFill>
                  <a:srgbClr val="142118"/>
                </a:solidFill>
                <a:latin typeface="Arial"/>
              </a:defRPr>
            </a:pPr>
            <a:r>
              <a:t>Continuous indoor monitoring for elderly and disabled residents without intrusive wearable tags.</a:t>
            </a:r>
          </a:p>
          <a:p>
            <a:pPr>
              <a:spcBef>
                <a:spcPts val="1200"/>
              </a:spcBef>
              <a:defRPr sz="950">
                <a:solidFill>
                  <a:srgbClr val="526458"/>
                </a:solidFill>
                <a:latin typeface="Arial"/>
              </a:defRPr>
            </a:pPr>
            <a:r>
              <a:t>Analyzes micro-Doppler Wi-Fi channel state information (CSI) &amp; vision.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828800"/>
            <a:ext cx="246888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000" b="1">
                <a:solidFill>
                  <a:srgbClr val="1B3E24"/>
                </a:solidFill>
                <a:latin typeface="Arial"/>
              </a:defRPr>
            </a:pPr>
            <a:r>
              <a:t>WP3: REMOTE PHYSICAL THERAPY</a:t>
            </a:r>
          </a:p>
          <a:p>
            <a:pPr>
              <a:spcBef>
                <a:spcPts val="600"/>
              </a:spcBef>
              <a:defRPr sz="1400" b="1">
                <a:solidFill>
                  <a:srgbClr val="1B3E24"/>
                </a:solidFill>
                <a:latin typeface="Arial"/>
              </a:defRPr>
            </a:pPr>
            <a:r>
              <a:t>Robotic Haptic Rehab</a:t>
            </a:r>
          </a:p>
          <a:p>
            <a:pPr>
              <a:spcBef>
                <a:spcPts val="1000"/>
              </a:spcBef>
              <a:defRPr sz="1050">
                <a:solidFill>
                  <a:srgbClr val="142118"/>
                </a:solidFill>
                <a:latin typeface="Arial"/>
              </a:defRPr>
            </a:pPr>
            <a:r>
              <a:t>Bilateral force-feedback robotic exoskeleton for remote upper-limb stroke and mobility rehabilitation.</a:t>
            </a:r>
          </a:p>
          <a:p>
            <a:pPr>
              <a:spcBef>
                <a:spcPts val="1200"/>
              </a:spcBef>
              <a:defRPr sz="950">
                <a:solidFill>
                  <a:srgbClr val="526458"/>
                </a:solidFill>
                <a:latin typeface="Arial"/>
              </a:defRPr>
            </a:pPr>
            <a:r>
              <a:t>Allows physical therapists to guide patients over internet links.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828800"/>
            <a:ext cx="246888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000" b="1">
                <a:solidFill>
                  <a:srgbClr val="285C36"/>
                </a:solidFill>
                <a:latin typeface="Arial"/>
              </a:defRPr>
            </a:pPr>
            <a:r>
              <a:t>WP4: TELEHEALTH CLOUD PLATFORM</a:t>
            </a:r>
          </a:p>
          <a:p>
            <a:pPr>
              <a:spcBef>
                <a:spcPts val="600"/>
              </a:spcBef>
              <a:defRPr sz="1400" b="1">
                <a:solidFill>
                  <a:srgbClr val="1B3E24"/>
                </a:solidFill>
                <a:latin typeface="Arial"/>
              </a:defRPr>
            </a:pPr>
            <a:r>
              <a:t>Data Integration &amp; FHIR</a:t>
            </a:r>
          </a:p>
          <a:p>
            <a:pPr>
              <a:spcBef>
                <a:spcPts val="1000"/>
              </a:spcBef>
              <a:defRPr sz="1050">
                <a:solidFill>
                  <a:srgbClr val="142118"/>
                </a:solidFill>
                <a:latin typeface="Arial"/>
              </a:defRPr>
            </a:pPr>
            <a:r>
              <a:t>Centralized healthcare platform aggregating multi-sensor event streams into standard medical formats.</a:t>
            </a:r>
          </a:p>
          <a:p>
            <a:pPr>
              <a:spcBef>
                <a:spcPts val="1200"/>
              </a:spcBef>
              <a:defRPr sz="950">
                <a:solidFill>
                  <a:srgbClr val="526458"/>
                </a:solidFill>
                <a:latin typeface="Arial"/>
              </a:defRPr>
            </a:pPr>
            <a:r>
              <a:t>Real-time clinician dashboards, alert thresholds, and EHR integration.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CLINICAL AI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Why Health AI is Not Consumer Tech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Asymmetric error penalties: why conventional accuracy is dangerous in clinical decisions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C0392B"/>
                </a:solidFill>
              </a:defRPr>
            </a:pPr>
            <a:r>
              <a:t>HIGH ASYMMETRY / HIGH STAKES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Clinical Diagnostic ML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False Negative (Missed Cancer):</a:t>
            </a:r>
            <a:br/>
            <a:r>
              <a:rPr b="0">
                <a:solidFill>
                  <a:srgbClr val="526458"/>
                </a:solidFill>
              </a:rPr>
              <a:t>A malignant tumor is classified benign. Patient is sent home. Tumor grows untreated for 12 months. Catastrophic outcome.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False Positive (False Alarm):</a:t>
            </a:r>
            <a:br/>
            <a:r>
              <a:rPr b="0">
                <a:solidFill>
                  <a:srgbClr val="526458"/>
                </a:solidFill>
              </a:rPr>
              <a:t>A benign cyst is flagged malignant. Patient receives an extra ultrasound or biopsy. Anxiety and modest cost, but safe.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Metric Requirement:</a:t>
            </a:r>
            <a:br/>
            <a:r>
              <a:rPr b="0">
                <a:solidFill>
                  <a:srgbClr val="526458"/>
                </a:solidFill>
              </a:rPr>
              <a:t>Accuracy is meaningless here. We must optimize Recall (Sensitivity) and manage the threshold deliberately.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526458"/>
                </a:solidFill>
              </a:defRPr>
            </a:pPr>
            <a:r>
              <a:t>SYMMETRIC / LOW STAKES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Consumer Recommenders &amp; Ads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False Negative (Skipped Song):</a:t>
            </a:r>
            <a:br/>
            <a:r>
              <a:rPr b="0">
                <a:solidFill>
                  <a:srgbClr val="526458"/>
                </a:solidFill>
              </a:rPr>
              <a:t>A user is not recommended a track they might have liked. Zero tangible harm; user picks another song.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False Positive (Irrelevant Ad):</a:t>
            </a:r>
            <a:br/>
            <a:r>
              <a:rPr b="0">
                <a:solidFill>
                  <a:srgbClr val="526458"/>
                </a:solidFill>
              </a:rPr>
              <a:t>User sees an advert for running shoes they do not want. User scrolls past. Penalty is negligible.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Metric Requirement:</a:t>
            </a:r>
            <a:br/>
            <a:r>
              <a:rPr b="0">
                <a:solidFill>
                  <a:srgbClr val="526458"/>
                </a:solidFill>
              </a:rPr>
              <a:t>Click-through rate (CTR) and Top-K Precision are fine. Mistakes do not cause physical injury.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HUMAN-IN-THE-LOOP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Prediction vs. Clinical Decision Support (CDS)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Why medical algorithms triage and assist rather than make autonomous clinical decrees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106984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 tIns="365760"/>
          <a:lstStyle/>
          <a:p>
            <a:pPr algn="ctr">
              <a:defRPr b="1" sz="1200">
                <a:solidFill>
                  <a:srgbClr val="285C36"/>
                </a:solidFill>
              </a:defRPr>
            </a:pPr>
            <a:r>
              <a:t>THE CLINICAL REALITY OF AI DEPLOYMENT</a:t>
            </a:r>
          </a:p>
          <a:p>
            <a:pPr>
              <a:spcBef>
                <a:spcPts val="600"/>
              </a:spcBef>
              <a:defRPr b="1" sz="2000">
                <a:solidFill>
                  <a:srgbClr val="1B3E24"/>
                </a:solidFill>
              </a:defRPr>
            </a:pPr>
            <a:r>
              <a:t>AI Models Do Not Replace Doctors — They Triage Attention</a:t>
            </a:r>
          </a:p>
          <a:p>
            <a:pPr>
              <a:spcBef>
                <a:spcPts val="1400"/>
              </a:spcBef>
              <a:defRPr b="1" sz="1200">
                <a:solidFill>
                  <a:srgbClr val="142118"/>
                </a:solidFill>
              </a:defRPr>
            </a:pPr>
            <a:r>
              <a:t>Autonomous AI vs. Assistive AI: </a:t>
            </a:r>
            <a:r>
              <a:rPr b="0">
                <a:solidFill>
                  <a:srgbClr val="526458"/>
                </a:solidFill>
              </a:rPr>
              <a:t>In consumer autonomous driving, the car steers. In healthcare, regulatory bodies (FDA, EMA) treat diagnostic ML strictly as Software as a Medical Device (SaMD) operating as decision support with a licensed clinician in the loop.</a:t>
            </a:r>
          </a:p>
          <a:p>
            <a:pPr>
              <a:spcBef>
                <a:spcPts val="1400"/>
              </a:spcBef>
              <a:defRPr b="1" sz="1200">
                <a:solidFill>
                  <a:srgbClr val="142118"/>
                </a:solidFill>
              </a:defRPr>
            </a:pPr>
            <a:r>
              <a:t>Risk Stratification: </a:t>
            </a:r>
            <a:r>
              <a:rPr b="0">
                <a:solidFill>
                  <a:srgbClr val="526458"/>
                </a:solidFill>
              </a:rPr>
              <a:t>Instead of outputting a binary 'healthy vs sick', models assign calibrated risk probabilities. High-risk cases are bumped to the top of the radiologist's queue, reducing time-to-treatment for acute patients.</a:t>
            </a:r>
          </a:p>
          <a:p>
            <a:pPr>
              <a:spcBef>
                <a:spcPts val="1400"/>
              </a:spcBef>
              <a:defRPr b="1" sz="1200">
                <a:solidFill>
                  <a:srgbClr val="142118"/>
                </a:solidFill>
              </a:defRPr>
            </a:pPr>
            <a:r>
              <a:t>Engineering Analogy (Predictive Maintenance): </a:t>
            </a:r>
            <a:r>
              <a:rPr b="0">
                <a:solidFill>
                  <a:srgbClr val="526458"/>
                </a:solidFill>
              </a:rPr>
              <a:t>For mechanical or agricultural engineering students: think of clinical AI as an anomaly detection telemetry system. The vibration sensor flags a bearing defect; the maintenance engineer decides when to shut down the turbine.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HOSPITAL IT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The Clinical Data Ecosystem: Four Core Subsystems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Patient data is generated across independent departments, databases, and vendor hardware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25146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b="1" sz="1100">
                <a:solidFill>
                  <a:srgbClr val="285C36"/>
                </a:solidFill>
              </a:defRPr>
            </a:pPr>
            <a:r>
              <a:t>01. EHR / EMR</a:t>
            </a:r>
          </a:p>
          <a:p>
            <a:pPr>
              <a:spcBef>
                <a:spcPts val="600"/>
              </a:spcBef>
              <a:defRPr b="1" sz="1400">
                <a:solidFill>
                  <a:srgbClr val="1B3E24"/>
                </a:solidFill>
              </a:defRPr>
            </a:pPr>
            <a:r>
              <a:t>Electronic Health Record</a:t>
            </a:r>
          </a:p>
          <a:p>
            <a:pPr>
              <a:spcBef>
                <a:spcPts val="1000"/>
              </a:spcBef>
              <a:defRPr sz="1050">
                <a:solidFill>
                  <a:srgbClr val="142118"/>
                </a:solidFill>
              </a:defRPr>
            </a:pPr>
            <a:r>
              <a:t>The central patient master record: clinical encounter notes, problem lists, allergies, prescriptions, and vital signs.</a:t>
            </a:r>
          </a:p>
          <a:p>
            <a:pPr>
              <a:spcBef>
                <a:spcPts val="1200"/>
              </a:spcBef>
              <a:defRPr sz="950">
                <a:solidFill>
                  <a:srgbClr val="526458"/>
                </a:solidFill>
              </a:defRPr>
            </a:pPr>
            <a:r>
              <a:t>Vendor Examples: Epic, Cerner, Meditech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5146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b="1" sz="1100">
                <a:solidFill>
                  <a:srgbClr val="285C36"/>
                </a:solidFill>
              </a:defRPr>
            </a:pPr>
            <a:r>
              <a:t>02. LIS</a:t>
            </a:r>
          </a:p>
          <a:p>
            <a:pPr>
              <a:spcBef>
                <a:spcPts val="600"/>
              </a:spcBef>
              <a:defRPr b="1" sz="1400">
                <a:solidFill>
                  <a:srgbClr val="1B3E24"/>
                </a:solidFill>
              </a:defRPr>
            </a:pPr>
            <a:r>
              <a:t>Laboratory Information</a:t>
            </a:r>
          </a:p>
          <a:p>
            <a:pPr>
              <a:spcBef>
                <a:spcPts val="1000"/>
              </a:spcBef>
              <a:defRPr sz="1050">
                <a:solidFill>
                  <a:srgbClr val="142118"/>
                </a:solidFill>
              </a:defRPr>
            </a:pPr>
            <a:r>
              <a:t>Processes blood assays, pathology specimens, biopsies, and microbial cultures. Generates numeric test results and units.</a:t>
            </a:r>
          </a:p>
          <a:p>
            <a:pPr>
              <a:spcBef>
                <a:spcPts val="1200"/>
              </a:spcBef>
              <a:defRPr sz="950">
                <a:solidFill>
                  <a:srgbClr val="526458"/>
                </a:solidFill>
              </a:defRPr>
            </a:pPr>
            <a:r>
              <a:t>Biopsy morphometry data originates here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828800"/>
            <a:ext cx="25146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b="1" sz="1100">
                <a:solidFill>
                  <a:srgbClr val="285C36"/>
                </a:solidFill>
              </a:defRPr>
            </a:pPr>
            <a:r>
              <a:t>03. RIS &amp; PACS</a:t>
            </a:r>
          </a:p>
          <a:p>
            <a:pPr>
              <a:spcBef>
                <a:spcPts val="600"/>
              </a:spcBef>
              <a:defRPr b="1" sz="1400">
                <a:solidFill>
                  <a:srgbClr val="1B3E24"/>
                </a:solidFill>
              </a:defRPr>
            </a:pPr>
            <a:r>
              <a:t>Radiology &amp; Imaging</a:t>
            </a:r>
          </a:p>
          <a:p>
            <a:pPr>
              <a:spcBef>
                <a:spcPts val="1000"/>
              </a:spcBef>
              <a:defRPr sz="1050">
                <a:solidFill>
                  <a:srgbClr val="142118"/>
                </a:solidFill>
              </a:defRPr>
            </a:pPr>
            <a:r>
              <a:t>Radiology Information System (orders/reports) and Picture Archiving System (DICOM image storage for CT, MRI, X-Ray).</a:t>
            </a:r>
          </a:p>
          <a:p>
            <a:pPr>
              <a:spcBef>
                <a:spcPts val="1200"/>
              </a:spcBef>
              <a:defRPr sz="950">
                <a:solidFill>
                  <a:srgbClr val="526458"/>
                </a:solidFill>
              </a:defRPr>
            </a:pPr>
            <a:r>
              <a:t>Stores multi-gigabyte imaging studies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828800"/>
            <a:ext cx="25146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b="1" sz="1100">
                <a:solidFill>
                  <a:srgbClr val="285C36"/>
                </a:solidFill>
              </a:defRPr>
            </a:pPr>
            <a:r>
              <a:t>04. Billing &amp; Admin</a:t>
            </a:r>
          </a:p>
          <a:p>
            <a:pPr>
              <a:spcBef>
                <a:spcPts val="600"/>
              </a:spcBef>
              <a:defRPr b="1" sz="1400">
                <a:solidFill>
                  <a:srgbClr val="1B3E24"/>
                </a:solidFill>
              </a:defRPr>
            </a:pPr>
            <a:r>
              <a:t>Administrative &amp; Claims</a:t>
            </a:r>
          </a:p>
          <a:p>
            <a:pPr>
              <a:spcBef>
                <a:spcPts val="1000"/>
              </a:spcBef>
              <a:defRPr sz="1050">
                <a:solidFill>
                  <a:srgbClr val="142118"/>
                </a:solidFill>
              </a:defRPr>
            </a:pPr>
            <a:r>
              <a:t>Hospital enterprise resource planning: insurance billing, bed management, and standardized ICD-10 diagnostic billing codes.</a:t>
            </a:r>
          </a:p>
          <a:p>
            <a:pPr>
              <a:spcBef>
                <a:spcPts val="1200"/>
              </a:spcBef>
              <a:defRPr sz="950">
                <a:solidFill>
                  <a:srgbClr val="526458"/>
                </a:solidFill>
              </a:defRPr>
            </a:pPr>
            <a:r>
              <a:t>High data volume, financial governance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CLINICAL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The Patient Journey: Fragmented Event Streams Over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Data is recorded asynchronously across separate departmental clocks and software systems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201168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b="1" sz="1000">
                <a:solidFill>
                  <a:srgbClr val="94BA33"/>
                </a:solidFill>
              </a:defRPr>
            </a:pPr>
            <a:r>
              <a:t>STEP 1</a:t>
            </a:r>
          </a:p>
          <a:p>
            <a:pPr>
              <a:spcBef>
                <a:spcPts val="600"/>
              </a:spcBef>
              <a:defRPr b="1" sz="1300">
                <a:solidFill>
                  <a:srgbClr val="1B3E24"/>
                </a:solidFill>
              </a:defRPr>
            </a:pPr>
            <a:r>
              <a:t>01. Triage &amp; Admission</a:t>
            </a:r>
          </a:p>
          <a:p>
            <a:pPr>
              <a:spcBef>
                <a:spcPts val="1000"/>
              </a:spcBef>
              <a:defRPr sz="1050">
                <a:solidFill>
                  <a:srgbClr val="142118"/>
                </a:solidFill>
              </a:defRPr>
            </a:pPr>
            <a:r>
              <a:t>Demographics, admission vitals, presenting complaint logged in EHR.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07792" y="1828800"/>
            <a:ext cx="201168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b="1" sz="1000">
                <a:solidFill>
                  <a:srgbClr val="94BA33"/>
                </a:solidFill>
              </a:defRPr>
            </a:pPr>
            <a:r>
              <a:t>STEP 2</a:t>
            </a:r>
          </a:p>
          <a:p>
            <a:pPr>
              <a:spcBef>
                <a:spcPts val="600"/>
              </a:spcBef>
              <a:defRPr b="1" sz="1300">
                <a:solidFill>
                  <a:srgbClr val="1B3E24"/>
                </a:solidFill>
              </a:defRPr>
            </a:pPr>
            <a:r>
              <a:t>02. Physician Orders</a:t>
            </a:r>
          </a:p>
          <a:p>
            <a:pPr>
              <a:spcBef>
                <a:spcPts val="1000"/>
              </a:spcBef>
              <a:defRPr sz="1050">
                <a:solidFill>
                  <a:srgbClr val="142118"/>
                </a:solidFill>
              </a:defRPr>
            </a:pPr>
            <a:r>
              <a:t>Doctor examines patient; orders blood panel (LIS) and mammogram (RIS).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84064" y="1828800"/>
            <a:ext cx="201168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b="1" sz="1000">
                <a:solidFill>
                  <a:srgbClr val="94BA33"/>
                </a:solidFill>
              </a:defRPr>
            </a:pPr>
            <a:r>
              <a:t>STEP 3</a:t>
            </a:r>
          </a:p>
          <a:p>
            <a:pPr>
              <a:spcBef>
                <a:spcPts val="600"/>
              </a:spcBef>
              <a:defRPr b="1" sz="1300">
                <a:solidFill>
                  <a:srgbClr val="1B3E24"/>
                </a:solidFill>
              </a:defRPr>
            </a:pPr>
            <a:r>
              <a:t>03. Testing &amp; Execution</a:t>
            </a:r>
          </a:p>
          <a:p>
            <a:pPr>
              <a:spcBef>
                <a:spcPts val="1000"/>
              </a:spcBef>
              <a:defRPr sz="1050">
                <a:solidFill>
                  <a:srgbClr val="142118"/>
                </a:solidFill>
              </a:defRPr>
            </a:pPr>
            <a:r>
              <a:t>Lab analyzes fine needle aspirate (biopsy); radiologist captures scans.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60336" y="1828800"/>
            <a:ext cx="201168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b="1" sz="1000">
                <a:solidFill>
                  <a:srgbClr val="94BA33"/>
                </a:solidFill>
              </a:defRPr>
            </a:pPr>
            <a:r>
              <a:t>STEP 4</a:t>
            </a:r>
          </a:p>
          <a:p>
            <a:pPr>
              <a:spcBef>
                <a:spcPts val="600"/>
              </a:spcBef>
              <a:defRPr b="1" sz="1300">
                <a:solidFill>
                  <a:srgbClr val="1B3E24"/>
                </a:solidFill>
              </a:defRPr>
            </a:pPr>
            <a:r>
              <a:t>04. Pathologist Review</a:t>
            </a:r>
          </a:p>
          <a:p>
            <a:pPr>
              <a:spcBef>
                <a:spcPts val="1000"/>
              </a:spcBef>
              <a:defRPr sz="1050">
                <a:solidFill>
                  <a:srgbClr val="142118"/>
                </a:solidFill>
              </a:defRPr>
            </a:pPr>
            <a:r>
              <a:t>Cell nuclei morphometry measured and signed off as benign or malignant.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36608" y="1828800"/>
            <a:ext cx="201168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b="1" sz="1000">
                <a:solidFill>
                  <a:srgbClr val="94BA33"/>
                </a:solidFill>
              </a:defRPr>
            </a:pPr>
            <a:r>
              <a:t>STEP 5</a:t>
            </a:r>
          </a:p>
          <a:p>
            <a:pPr>
              <a:spcBef>
                <a:spcPts val="600"/>
              </a:spcBef>
              <a:defRPr b="1" sz="1300">
                <a:solidFill>
                  <a:srgbClr val="1B3E24"/>
                </a:solidFill>
              </a:defRPr>
            </a:pPr>
            <a:r>
              <a:t>05. Discharge &amp; Billing</a:t>
            </a:r>
          </a:p>
          <a:p>
            <a:pPr>
              <a:spcBef>
                <a:spcPts val="1000"/>
              </a:spcBef>
              <a:defRPr sz="1050">
                <a:solidFill>
                  <a:srgbClr val="142118"/>
                </a:solidFill>
              </a:defRPr>
            </a:pPr>
            <a:r>
              <a:t>Treatment plan documented, medications dispensed, claim submitted.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THE CORE DILEMMA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The Healthcare Interoperability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Why hospital systems struggle to communicate without international data standards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C0392B"/>
                </a:solidFill>
              </a:defRPr>
            </a:pPr>
            <a:r>
              <a:t>THE POINT-TO-POINT TRAP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N(N-1)/2 Spaghetti Integration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Proprietary Data Silos: </a:t>
            </a:r>
            <a:r>
              <a:rPr b="0">
                <a:solidFill>
                  <a:srgbClr val="526458"/>
                </a:solidFill>
              </a:rPr>
              <a:t>Historically, every medical software vendor stored data in bespoke schemas without standard APIs.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Custom Interfaces: </a:t>
            </a:r>
            <a:r>
              <a:rPr b="0">
                <a:solidFill>
                  <a:srgbClr val="526458"/>
                </a:solidFill>
              </a:rPr>
              <a:t>To connect an EHR to a Lab system, engineers wrote custom translation code. Connecting 10 systems required 45 custom bridges.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High Fragility: </a:t>
            </a:r>
            <a:r>
              <a:rPr b="0">
                <a:solidFill>
                  <a:srgbClr val="526458"/>
                </a:solidFill>
              </a:rPr>
              <a:t>Upgrading a single hospital subsystem frequently broke dozens of fragile custom interfaces, causing immense maintenance overhead.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94BA33"/>
                </a:solidFill>
              </a:defRPr>
            </a:pPr>
            <a:r>
              <a:t>WHAT STANDARDS SOLVE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Hub-and-Spoke Universal Interoperability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The 'USB' of Healthcare: </a:t>
            </a:r>
            <a:r>
              <a:rPr b="0">
                <a:solidFill>
                  <a:srgbClr val="526458"/>
                </a:solidFill>
              </a:rPr>
              <a:t>Every system connects to one standard protocol (FHIR). Connecting N systems requires only N interfaces.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Clinical Continuity: </a:t>
            </a:r>
            <a:r>
              <a:rPr b="0">
                <a:solidFill>
                  <a:srgbClr val="526458"/>
                </a:solidFill>
              </a:rPr>
              <a:t>When a patient changes clinics, their allergy and medication history follows them without manual data reentry.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Democratizing Health AI: </a:t>
            </a:r>
            <a:r>
              <a:rPr b="0">
                <a:solidFill>
                  <a:srgbClr val="526458"/>
                </a:solidFill>
              </a:rPr>
              <a:t>Algorithms can plug directly into standard FHIR feeds instead of being re-engineered for every hospital database.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CORE INFORMATICS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Syntactic vs. Semantic Interoperability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Transporting raw bytes versus agreeing on clinical meaning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285C36"/>
                </a:solidFill>
              </a:defRPr>
            </a:pPr>
            <a:r>
              <a:t>LEVEL 1 · THE WIRE FORMAT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Syntactic Interoperability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Definition: </a:t>
            </a:r>
            <a:r>
              <a:rPr b="0">
                <a:solidFill>
                  <a:srgbClr val="526458"/>
                </a:solidFill>
              </a:rPr>
              <a:t>Both systems can successfully parse the incoming data structure (e.g. valid JSON, XML, or delimiter-separated strings).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The Guarantee: </a:t>
            </a:r>
            <a:r>
              <a:rPr b="0">
                <a:solidFill>
                  <a:srgbClr val="526458"/>
                </a:solidFill>
              </a:rPr>
              <a:t>The data packets arrive intact over TCP/IP and decode without syntax errors.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The IT Analogy: </a:t>
            </a:r>
            <a:r>
              <a:rPr b="0">
                <a:solidFill>
                  <a:srgbClr val="526458"/>
                </a:solidFill>
              </a:rPr>
              <a:t>Two web services exchange valid JSON with curly braces and key-value pairs.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The Limitation: </a:t>
            </a:r>
            <a:r>
              <a:rPr b="0">
                <a:solidFill>
                  <a:srgbClr val="526458"/>
                </a:solidFill>
              </a:rPr>
              <a:t>Syntactic success does NOT mean the receiving system understands what the fields mean!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94BA33"/>
                </a:solidFill>
              </a:defRPr>
            </a:pPr>
            <a:r>
              <a:t>LEVEL 2 · THE CLINICAL MEANING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Semantic Interoperability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Definition: </a:t>
            </a:r>
            <a:r>
              <a:rPr b="0">
                <a:solidFill>
                  <a:srgbClr val="526458"/>
                </a:solidFill>
              </a:rPr>
              <a:t>Both systems unambiguously agree on the medical meaning of the numbers and codes.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Standard Vocabularies: </a:t>
            </a:r>
            <a:r>
              <a:rPr b="0">
                <a:solidFill>
                  <a:srgbClr val="526458"/>
                </a:solidFill>
              </a:rPr>
              <a:t>Code '21908-9' in LOINC means 'mean cell nucleus radius, measured in microns' across all clinics worldwide.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The Health AI Barrier: </a:t>
            </a:r>
            <a:r>
              <a:rPr b="0">
                <a:solidFill>
                  <a:srgbClr val="526458"/>
                </a:solidFill>
              </a:rPr>
              <a:t>If Hospital A calls glucose 'GLU' and Hospital B calls it 'Blood_Sugar_mg', ML models fail. Semantic harmonization is mandatory.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DATA MODELING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Why Traditional Relational Tables Fail in Healthcare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Sparse, variable-length event histories cannot fit into static SQL tables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106984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 tIns="365760"/>
          <a:lstStyle/>
          <a:p>
            <a:pPr algn="ctr">
              <a:defRPr b="1" sz="1100">
                <a:solidFill>
                  <a:srgbClr val="C0392B"/>
                </a:solidFill>
              </a:defRPr>
            </a:pPr>
            <a:r>
              <a:t>THE DATABASE IMPASSE</a:t>
            </a:r>
          </a:p>
          <a:p>
            <a:pPr>
              <a:spcBef>
                <a:spcPts val="600"/>
              </a:spcBef>
              <a:defRPr b="1" sz="2000">
                <a:solidFill>
                  <a:srgbClr val="1B3E24"/>
                </a:solidFill>
              </a:defRPr>
            </a:pPr>
            <a:r>
              <a:t>Healthcare Data is an Event Graph, Not a Flat Spreadsheet</a:t>
            </a:r>
          </a:p>
          <a:p>
            <a:pPr>
              <a:spcBef>
                <a:spcPts val="1400"/>
              </a:spcBef>
              <a:defRPr b="1" sz="1200">
                <a:solidFill>
                  <a:srgbClr val="142118"/>
                </a:solidFill>
              </a:defRPr>
            </a:pPr>
            <a:r>
              <a:t>Extreme Sparsity: </a:t>
            </a:r>
            <a:r>
              <a:rPr b="0">
                <a:solidFill>
                  <a:srgbClr val="526458"/>
                </a:solidFill>
              </a:rPr>
              <a:t>A healthy 20-year-old has 2 medical encounters and 3 lab tests in 5 years. A chronic diabetes patient has 400 lab tests, 50 prescriptions, and 30 specialist consultations. A static SQL table would need thousands of columns, 99% of which are NULL.</a:t>
            </a:r>
          </a:p>
          <a:p>
            <a:pPr>
              <a:spcBef>
                <a:spcPts val="1400"/>
              </a:spcBef>
              <a:defRPr b="1" sz="1200">
                <a:solidFill>
                  <a:srgbClr val="142118"/>
                </a:solidFill>
              </a:defRPr>
            </a:pPr>
            <a:r>
              <a:t>Variable-Length Event Streams: </a:t>
            </a:r>
            <a:r>
              <a:rPr b="0">
                <a:solidFill>
                  <a:srgbClr val="526458"/>
                </a:solidFill>
              </a:rPr>
              <a:t>Every lab test, imaging exam, or medication change is an asynchronous event with its own timestamp, performing clinician, and calibrated instrument.</a:t>
            </a:r>
          </a:p>
          <a:p>
            <a:pPr>
              <a:spcBef>
                <a:spcPts val="1400"/>
              </a:spcBef>
              <a:defRPr b="1" sz="1200">
                <a:solidFill>
                  <a:srgbClr val="142118"/>
                </a:solidFill>
              </a:defRPr>
            </a:pPr>
            <a:r>
              <a:t>Graph-Linked Architecture: </a:t>
            </a:r>
            <a:r>
              <a:rPr b="0">
                <a:solidFill>
                  <a:srgbClr val="526458"/>
                </a:solidFill>
              </a:rPr>
              <a:t>Modern health data standards (FHIR) model healthcare as a graph of resources linked by explicit references (Observation points to Patient; Condition points to DiagnosticReport).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645920"/>
            <a:ext cx="4389120" cy="411480"/>
          </a:xfrm>
          <a:prstGeom prst="roundRect">
            <a:avLst/>
          </a:prstGeom>
          <a:solidFill>
            <a:srgbClr val="285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MODULE 3 · DIGITAL HEALTH STANDARDS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600">
                <a:solidFill>
                  <a:srgbClr val="FFFFFF"/>
                </a:solidFill>
              </a:defRPr>
            </a:pPr>
            <a:r>
              <a:t>OSI Layer 7 &amp; The HL7 Mandate</a:t>
            </a:r>
          </a:p>
          <a:p>
            <a:pPr>
              <a:spcBef>
                <a:spcPts val="1200"/>
              </a:spcBef>
              <a:defRPr sz="1600">
                <a:solidFill>
                  <a:srgbClr val="94BA33"/>
                </a:solidFill>
              </a:defRPr>
            </a:pPr>
            <a:r>
              <a:t>Why networking solved moving packets (Layers 1–4), but healthcare required standardizing Application Meaning (Layer 7)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572000"/>
            <a:ext cx="10515600" cy="1463040"/>
          </a:xfrm>
          <a:prstGeom prst="roundRect">
            <a:avLst/>
          </a:prstGeom>
          <a:solidFill>
            <a:srgbClr val="285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defRPr b="1" sz="1300">
                <a:solidFill>
                  <a:srgbClr val="94BA33"/>
                </a:solidFill>
              </a:defRPr>
            </a:pPr>
            <a:r>
              <a:t>The Key Shift in One Sentence:</a:t>
            </a:r>
          </a:p>
          <a:p>
            <a:pPr>
              <a:spcBef>
                <a:spcPts val="400"/>
              </a:spcBef>
              <a:defRPr b="1" sz="1400">
                <a:solidFill>
                  <a:srgbClr val="FFFFFF"/>
                </a:solidFill>
              </a:defRPr>
            </a:pPr>
            <a:r>
              <a:t>In HL7 v2 (1989), you read a lab value by counting pipe delimiters in a line. In FHIR (2014), you query a RESTful URI endpoint and parse standard JSON.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DIGITAL HEALTH STANDARDS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Anatomy of an HL7 v2 Message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The pipe-and-hat (| and ^) ASCII format powering hospital messaging since 1989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43891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100">
                <a:solidFill>
                  <a:srgbClr val="285C36"/>
                </a:solidFill>
              </a:defRPr>
            </a:pPr>
            <a:r>
              <a:t>MESSAGE STRUCTURE</a:t>
            </a:r>
          </a:p>
          <a:p>
            <a:pPr>
              <a:spcBef>
                <a:spcPts val="800"/>
              </a:spcBef>
              <a:defRPr b="1" sz="1100">
                <a:solidFill>
                  <a:srgbClr val="1B3E24"/>
                </a:solidFill>
              </a:defRPr>
            </a:pPr>
            <a:r>
              <a:t>MSH (Message Header):</a:t>
            </a:r>
            <a:br/>
            <a:r>
              <a:rPr b="0">
                <a:solidFill>
                  <a:srgbClr val="526458"/>
                </a:solidFill>
              </a:rPr>
              <a:t>Carries sending application, facility, message type (ORU^R01 lab result), and timestamp.</a:t>
            </a:r>
          </a:p>
          <a:p>
            <a:pPr>
              <a:spcBef>
                <a:spcPts val="800"/>
              </a:spcBef>
              <a:defRPr b="1" sz="1100">
                <a:solidFill>
                  <a:srgbClr val="1B3E24"/>
                </a:solidFill>
              </a:defRPr>
            </a:pPr>
            <a:r>
              <a:t>PID (Patient Identification):</a:t>
            </a:r>
            <a:br/>
            <a:r>
              <a:rPr b="0">
                <a:solidFill>
                  <a:srgbClr val="526458"/>
                </a:solidFill>
              </a:rPr>
              <a:t>Carries patient identifier (MRN), patient name, date of birth, and biological sex.</a:t>
            </a:r>
          </a:p>
          <a:p>
            <a:pPr>
              <a:spcBef>
                <a:spcPts val="800"/>
              </a:spcBef>
              <a:defRPr b="1" sz="1100">
                <a:solidFill>
                  <a:srgbClr val="1B3E24"/>
                </a:solidFill>
              </a:defRPr>
            </a:pPr>
            <a:r>
              <a:t>OBR (Observation Request):</a:t>
            </a:r>
            <a:br/>
            <a:r>
              <a:rPr b="0">
                <a:solidFill>
                  <a:srgbClr val="526458"/>
                </a:solidFill>
              </a:rPr>
              <a:t>Identifies the lab order, ordering physician, and specimen accession number.</a:t>
            </a:r>
          </a:p>
          <a:p>
            <a:pPr>
              <a:spcBef>
                <a:spcPts val="800"/>
              </a:spcBef>
              <a:defRPr b="1" sz="1100">
                <a:solidFill>
                  <a:srgbClr val="1B3E24"/>
                </a:solidFill>
              </a:defRPr>
            </a:pPr>
            <a:r>
              <a:t>OBX (Observation Result):</a:t>
            </a:r>
            <a:br/>
            <a:r>
              <a:rPr b="0">
                <a:solidFill>
                  <a:srgbClr val="526458"/>
                </a:solidFill>
              </a:rPr>
              <a:t>The actual test result: LOINC code, numeric measurement, units (um), and normal flag.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0" y="1828800"/>
            <a:ext cx="6035040" cy="4389120"/>
          </a:xfrm>
          <a:prstGeom prst="roundRect">
            <a:avLst/>
          </a:prstGeom>
          <a:solidFill>
            <a:srgbClr val="131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1050">
                <a:solidFill>
                  <a:srgbClr val="94BA33"/>
                </a:solidFill>
                <a:latin typeface="Courier New"/>
              </a:defRPr>
            </a:pPr>
            <a:r>
              <a:t>// Real HL7 v2.5 ORU^R01 (Lab Result Transmission)</a:t>
            </a:r>
          </a:p>
          <a:p>
            <a:pPr>
              <a:spcBef>
                <a:spcPts val="800"/>
              </a:spcBef>
              <a:defRPr sz="950">
                <a:solidFill>
                  <a:srgbClr val="A6E22E"/>
                </a:solidFill>
                <a:latin typeface="Courier New"/>
              </a:defRPr>
            </a:pPr>
            <a:r>
              <a:t>MSH|^~\&amp;|LIS_SYS|AIT_HOSP|EMR_SYS|AIT_HOSP|20260909101500||ORU^R01|MSG000124|P|2.5</a:t>
            </a:r>
          </a:p>
          <a:p>
            <a:pPr>
              <a:spcBef>
                <a:spcPts val="800"/>
              </a:spcBef>
              <a:defRPr sz="950">
                <a:solidFill>
                  <a:srgbClr val="A6E22E"/>
                </a:solidFill>
                <a:latin typeface="Courier New"/>
              </a:defRPr>
            </a:pPr>
            <a:r>
              <a:t>PID|1||P0001^^^MRN||DOE^JANE||19800512|F</a:t>
            </a:r>
          </a:p>
          <a:p>
            <a:pPr>
              <a:spcBef>
                <a:spcPts val="800"/>
              </a:spcBef>
              <a:defRPr sz="950">
                <a:solidFill>
                  <a:srgbClr val="A6E22E"/>
                </a:solidFill>
                <a:latin typeface="Courier New"/>
              </a:defRPr>
            </a:pPr>
            <a:r>
              <a:t>OBR|1|ORD9812|LAB4401|21908-9^Cell Nuclei Biopsy^LN|||20260909093000</a:t>
            </a:r>
          </a:p>
          <a:p>
            <a:pPr>
              <a:spcBef>
                <a:spcPts val="800"/>
              </a:spcBef>
              <a:defRPr sz="950">
                <a:solidFill>
                  <a:srgbClr val="A6E22E"/>
                </a:solidFill>
                <a:latin typeface="Courier New"/>
              </a:defRPr>
            </a:pPr>
            <a:r>
              <a:t>OBX|1|NM|21908-9^Mean Radius^LN|1|17.99|um|6.0-20.0|N|||F</a:t>
            </a:r>
          </a:p>
          <a:p>
            <a:pPr>
              <a:spcBef>
                <a:spcPts val="800"/>
              </a:spcBef>
              <a:defRPr sz="950">
                <a:solidFill>
                  <a:srgbClr val="A6E22E"/>
                </a:solidFill>
                <a:latin typeface="Courier New"/>
              </a:defRPr>
            </a:pPr>
            <a:r>
              <a:t>OBX|2|NM|99901-1^Mean Texture^LN|1|10.38|score||N|||F</a:t>
            </a:r>
          </a:p>
          <a:p>
            <a:pPr>
              <a:spcBef>
                <a:spcPts val="800"/>
              </a:spcBef>
              <a:defRPr sz="950">
                <a:solidFill>
                  <a:srgbClr val="A6E22E"/>
                </a:solidFill>
                <a:latin typeface="Courier New"/>
              </a:defRPr>
            </a:pPr>
            <a:r>
              <a:t>OBX|3|NM|99901-2^Mean Perimeter^LN|1|122.8|um||N|||F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STANDARDS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Technological Relativity: Why HL7 v2 in 1989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An engineering triumph for 1989 hardware that accumulated 30 years of Z-segment integration debt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34290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600">
                <a:solidFill>
                  <a:srgbClr val="285C36"/>
                </a:solidFill>
              </a:defRPr>
            </a:pPr>
            <a:r>
              <a:t>The Context of 1989</a:t>
            </a:r>
          </a:p>
          <a:p>
            <a:pPr>
              <a:spcBef>
                <a:spcPts val="400"/>
              </a:spcBef>
              <a:defRPr b="1" sz="1100">
                <a:solidFill>
                  <a:srgbClr val="1B3E24"/>
                </a:solidFill>
              </a:defRPr>
            </a:pPr>
            <a:r>
              <a:t>Why Not JSON / REST?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t>The Web didn't exist (HTTP in 1991, JSON in 2001). Hardware was 1–4 MB RAM and 10 Mbps coax. Delimiter-separated ASCII allowed O(1) streaming directly into C buffers over raw TCP sockets without memory bloat.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828800"/>
            <a:ext cx="34290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600">
                <a:solidFill>
                  <a:srgbClr val="C0392B"/>
                </a:solidFill>
              </a:defRPr>
            </a:pPr>
            <a:r>
              <a:t>The 'Z-Segment' Trap</a:t>
            </a:r>
          </a:p>
          <a:p>
            <a:pPr>
              <a:spcBef>
                <a:spcPts val="400"/>
              </a:spcBef>
              <a:defRPr b="1" sz="1100">
                <a:solidFill>
                  <a:srgbClr val="1B3E24"/>
                </a:solidFill>
              </a:defRPr>
            </a:pPr>
            <a:r>
              <a:t>Non-Standard Custom Extensions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t>HL7 v2 was so loosely specified that vendors added proprietary custom segments (ZBE, ZPD, ZAL). A message from Hospital A could not be parsed by Hospital B without bespoke translation code.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828800"/>
            <a:ext cx="34290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600">
                <a:solidFill>
                  <a:srgbClr val="1B3E24"/>
                </a:solidFill>
              </a:defRPr>
            </a:pPr>
            <a:r>
              <a:t>The Modern Debt</a:t>
            </a:r>
          </a:p>
          <a:p>
            <a:pPr>
              <a:spcBef>
                <a:spcPts val="400"/>
              </a:spcBef>
              <a:defRPr b="1" sz="1100">
                <a:solidFill>
                  <a:srgbClr val="1B3E24"/>
                </a:solidFill>
              </a:defRPr>
            </a:pPr>
            <a:r>
              <a:t>Point-to-Point Socket Piping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</a:defRPr>
            </a:pPr>
            <a:r>
              <a:t>HL7 v2 runs over MLLP (raw TCP sockets). There are no URLs, no HTTP status codes, no authentication standards, and no query capabilities. Required costly interface engines (Mirth, Cloverleaf).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MODERN INTEROPERABILITY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Enter HL7 FHIR (Fast Healthcare Interoperability Resources)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Reinventing healthcare communication using the open foundations of the modern internet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106984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 tIns="365760"/>
          <a:lstStyle/>
          <a:p>
            <a:pPr algn="ctr">
              <a:defRPr b="1" sz="1100">
                <a:solidFill>
                  <a:srgbClr val="94BA33"/>
                </a:solidFill>
              </a:defRPr>
            </a:pPr>
            <a:r>
              <a:t>THE MODERN HEALTH DATA STANDARD (FHIR R4 NORMATIVE)</a:t>
            </a:r>
          </a:p>
          <a:p>
            <a:pPr>
              <a:spcBef>
                <a:spcPts val="600"/>
              </a:spcBef>
              <a:defRPr b="1" sz="2000">
                <a:solidFill>
                  <a:srgbClr val="1B3E24"/>
                </a:solidFill>
              </a:defRPr>
            </a:pPr>
            <a:r>
              <a:t>Standard Web Architecture for Clinical Computing</a:t>
            </a:r>
          </a:p>
          <a:p>
            <a:pPr>
              <a:spcBef>
                <a:spcPts val="1200"/>
              </a:spcBef>
              <a:defRPr b="1" sz="1200">
                <a:solidFill>
                  <a:srgbClr val="142118"/>
                </a:solidFill>
              </a:defRPr>
            </a:pPr>
            <a:r>
              <a:t>Web-Native Technologies: </a:t>
            </a:r>
            <a:r>
              <a:rPr b="0">
                <a:solidFill>
                  <a:srgbClr val="526458"/>
                </a:solidFill>
              </a:rPr>
              <a:t>Built on HTTP REST verbs (GET, POST, PUT, DELETE), JSON and XML representations, and OAuth2 security (SMART on FHIR). Any software engineer can build against it immediately.</a:t>
            </a:r>
          </a:p>
          <a:p>
            <a:pPr>
              <a:spcBef>
                <a:spcPts val="1200"/>
              </a:spcBef>
              <a:defRPr b="1" sz="1200">
                <a:solidFill>
                  <a:srgbClr val="142118"/>
                </a:solidFill>
              </a:defRPr>
            </a:pPr>
            <a:r>
              <a:t>The '80/20' Rule: </a:t>
            </a:r>
            <a:r>
              <a:rPr b="0">
                <a:solidFill>
                  <a:srgbClr val="526458"/>
                </a:solidFill>
              </a:rPr>
              <a:t>Instead of attempting to model every rare edge-case in medical history, FHIR standardizes the 80% of data concepts common across all healthcare. The remaining 20% is handled through structured, schema-validated Extensions.</a:t>
            </a:r>
          </a:p>
          <a:p>
            <a:pPr>
              <a:spcBef>
                <a:spcPts val="1200"/>
              </a:spcBef>
              <a:defRPr b="1" sz="1200">
                <a:solidFill>
                  <a:srgbClr val="142118"/>
                </a:solidFill>
              </a:defRPr>
            </a:pPr>
            <a:r>
              <a:t>Normative Stability (R4): </a:t>
            </a:r>
            <a:r>
              <a:rPr b="0">
                <a:solidFill>
                  <a:srgbClr val="526458"/>
                </a:solidFill>
              </a:rPr>
              <a:t>Published in 2019, the core clinical resources (Patient, Observation, Condition) are normative—meaning future FHIR versions will never break backwards compatibility.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FHIR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Four Core FHIR Building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How clinical concepts are modularized, addressed, and queried in modern health ICT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25146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b="1" sz="1100">
                <a:solidFill>
                  <a:srgbClr val="285C36"/>
                </a:solidFill>
              </a:defRPr>
            </a:pPr>
            <a:r>
              <a:t>01. Resources</a:t>
            </a:r>
          </a:p>
          <a:p>
            <a:pPr>
              <a:spcBef>
                <a:spcPts val="600"/>
              </a:spcBef>
              <a:defRPr b="1" sz="1300">
                <a:solidFill>
                  <a:srgbClr val="1B3E24"/>
                </a:solidFill>
              </a:defRPr>
            </a:pPr>
            <a:r>
              <a:t>Modular Clinical Entities</a:t>
            </a:r>
          </a:p>
          <a:p>
            <a:pPr>
              <a:spcBef>
                <a:spcPts val="1000"/>
              </a:spcBef>
              <a:defRPr sz="1050">
                <a:solidFill>
                  <a:srgbClr val="142118"/>
                </a:solidFill>
              </a:defRPr>
            </a:pPr>
            <a:r>
              <a:t>Standardized data schemas for medical concepts: Patient, Observation (tests/vitals), Condition (diagnoses), DiagnosticReport, Medication.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5146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b="1" sz="1100">
                <a:solidFill>
                  <a:srgbClr val="94BA33"/>
                </a:solidFill>
              </a:defRPr>
            </a:pPr>
            <a:r>
              <a:t>02. Logical IDs</a:t>
            </a:r>
          </a:p>
          <a:p>
            <a:pPr>
              <a:spcBef>
                <a:spcPts val="600"/>
              </a:spcBef>
              <a:defRPr b="1" sz="1300">
                <a:solidFill>
                  <a:srgbClr val="1B3E24"/>
                </a:solidFill>
              </a:defRPr>
            </a:pPr>
            <a:r>
              <a:t>Unambiguous URI Addressing</a:t>
            </a:r>
          </a:p>
          <a:p>
            <a:pPr>
              <a:spcBef>
                <a:spcPts val="1000"/>
              </a:spcBef>
              <a:defRPr sz="1050">
                <a:solidFill>
                  <a:srgbClr val="142118"/>
                </a:solidFill>
              </a:defRPr>
            </a:pPr>
            <a:r>
              <a:t>Every resource has a unique logical identity within the server (e.g., Patient/P0001 or Observation/obs-cell-radius-01).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828800"/>
            <a:ext cx="25146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b="1" sz="1100">
                <a:solidFill>
                  <a:srgbClr val="1B3E24"/>
                </a:solidFill>
              </a:defRPr>
            </a:pPr>
            <a:r>
              <a:t>03. References</a:t>
            </a:r>
          </a:p>
          <a:p>
            <a:pPr>
              <a:spcBef>
                <a:spcPts val="600"/>
              </a:spcBef>
              <a:defRPr b="1" sz="1300">
                <a:solidFill>
                  <a:srgbClr val="1B3E24"/>
                </a:solidFill>
              </a:defRPr>
            </a:pPr>
            <a:r>
              <a:t>Explicit Typed Pointers</a:t>
            </a:r>
          </a:p>
          <a:p>
            <a:pPr>
              <a:spcBef>
                <a:spcPts val="1000"/>
              </a:spcBef>
              <a:defRPr sz="1050">
                <a:solidFill>
                  <a:srgbClr val="142118"/>
                </a:solidFill>
              </a:defRPr>
            </a:pPr>
            <a:r>
              <a:t>Resources link to each other via explicit reference fields: Observation.subject points to Patient/P0001; Condition.encounter points to Encounter/E102.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828800"/>
            <a:ext cx="25146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b="1" sz="1100">
                <a:solidFill>
                  <a:srgbClr val="285C36"/>
                </a:solidFill>
              </a:defRPr>
            </a:pPr>
            <a:r>
              <a:t>04. REST Operations</a:t>
            </a:r>
          </a:p>
          <a:p>
            <a:pPr>
              <a:spcBef>
                <a:spcPts val="600"/>
              </a:spcBef>
              <a:defRPr b="1" sz="1300">
                <a:solidFill>
                  <a:srgbClr val="1B3E24"/>
                </a:solidFill>
              </a:defRPr>
            </a:pPr>
            <a:r>
              <a:t>Standard HTTP Verbs</a:t>
            </a:r>
          </a:p>
          <a:p>
            <a:pPr>
              <a:spcBef>
                <a:spcPts val="1000"/>
              </a:spcBef>
              <a:defRPr sz="1050">
                <a:solidFill>
                  <a:srgbClr val="142118"/>
                </a:solidFill>
              </a:defRPr>
            </a:pPr>
            <a:r>
              <a:t>Query with GET /Observation?subject=Patient/P0001; create with POST /Observation; update with PUT. Uses standard HTTP 200/404 response codes.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DATA STRUCTURES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FHIR Bundles: Packaging Clinical Encounters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How multi-resource patient histories travel together across network boundaries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106984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 tIns="365760"/>
          <a:lstStyle/>
          <a:p>
            <a:pPr algn="ctr">
              <a:defRPr b="1" sz="1100">
                <a:solidFill>
                  <a:srgbClr val="94BA33"/>
                </a:solidFill>
              </a:defRPr>
            </a:pPr>
            <a:r>
              <a:t>THE ENVELOPE FOR HEALTHCARE DATA</a:t>
            </a:r>
          </a:p>
          <a:p>
            <a:pPr>
              <a:spcBef>
                <a:spcPts val="600"/>
              </a:spcBef>
              <a:defRPr b="1" sz="2000">
                <a:solidFill>
                  <a:srgbClr val="1B3E24"/>
                </a:solidFill>
              </a:defRPr>
            </a:pPr>
            <a:r>
              <a:t>Bundles Package Collections of Resources into One Document</a:t>
            </a:r>
          </a:p>
          <a:p>
            <a:pPr>
              <a:spcBef>
                <a:spcPts val="1200"/>
              </a:spcBef>
              <a:defRPr b="1" sz="1200">
                <a:solidFill>
                  <a:srgbClr val="142118"/>
                </a:solidFill>
              </a:defRPr>
            </a:pPr>
            <a:r>
              <a:t>Bundle Types: </a:t>
            </a:r>
            <a:r>
              <a:rPr b="0">
                <a:solidFill>
                  <a:srgbClr val="526458"/>
                </a:solidFill>
              </a:rPr>
              <a:t>FHIR Bundles serve multiple purposes: 'searchset' returns query results, 'transaction' guarantees all-or-nothing database commits, and 'collection' transports static clinical records.</a:t>
            </a:r>
          </a:p>
          <a:p>
            <a:pPr>
              <a:spcBef>
                <a:spcPts val="1200"/>
              </a:spcBef>
              <a:defRPr b="1" sz="1200">
                <a:solidFill>
                  <a:srgbClr val="142118"/>
                </a:solidFill>
              </a:defRPr>
            </a:pPr>
            <a:r>
              <a:t>Anatomy of an Afternoon Bundle: </a:t>
            </a:r>
            <a:r>
              <a:rPr b="0">
                <a:solidFill>
                  <a:srgbClr val="526458"/>
                </a:solidFill>
              </a:rPr>
              <a:t>In this afternoon's workshop, every file in data/fhir/ (e.g., P0001.json) is a real FHIR R4 collection Bundle. Each bundle carries: 1 Patient resource, 10 Observation resources (cell nucleus morphometry), and 1 Condition resource (the ground-truth biopsy outcome).</a:t>
            </a:r>
          </a:p>
          <a:p>
            <a:pPr>
              <a:spcBef>
                <a:spcPts val="1200"/>
              </a:spcBef>
              <a:defRPr b="1" sz="1200">
                <a:solidFill>
                  <a:srgbClr val="142118"/>
                </a:solidFill>
              </a:defRPr>
            </a:pPr>
            <a:r>
              <a:t>The Joining Job: </a:t>
            </a:r>
            <a:r>
              <a:rPr b="0">
                <a:solidFill>
                  <a:srgbClr val="526458"/>
                </a:solidFill>
              </a:rPr>
              <a:t>The afternoon script (scripts/01_fhir_to_table.py) walks each Bundle, matches Observation.subject to the Patient ID, extracts the numeric value, and produces a single row per patient.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MEDICAL TERMINOLOGIES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The Semantic Glue: Standard Coded Vocabularies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Without standard terminologies, computers cannot understand what measurements represent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34290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800">
                <a:solidFill>
                  <a:srgbClr val="1B3E24"/>
                </a:solidFill>
              </a:defRPr>
            </a:pPr>
            <a:r>
              <a:t>LOINC</a:t>
            </a:r>
          </a:p>
          <a:p>
            <a:pPr>
              <a:spcBef>
                <a:spcPts val="400"/>
              </a:spcBef>
              <a:defRPr b="1" sz="1100">
                <a:solidFill>
                  <a:srgbClr val="94BA33"/>
                </a:solidFill>
              </a:defRPr>
            </a:pPr>
            <a:r>
              <a:t>What Was Measured or Tested</a:t>
            </a:r>
          </a:p>
          <a:p>
            <a:pPr>
              <a:spcBef>
                <a:spcPts val="1200"/>
              </a:spcBef>
              <a:defRPr sz="1050">
                <a:solidFill>
                  <a:srgbClr val="142118"/>
                </a:solidFill>
              </a:defRPr>
            </a:pPr>
            <a:r>
              <a:t>Logical Observation Identifiers Names and Codes. Standardizes laboratory assays, clinical observations, and vital signs.</a:t>
            </a:r>
            <a:br/>
            <a:br/>
            <a:r>
              <a:t>Example: Code 21908-9 specifies 'Mean radius of cell nuclei'. In Step 1, this LOINC code becomes our dataframe column name!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828800"/>
            <a:ext cx="34290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800">
                <a:solidFill>
                  <a:srgbClr val="1B3E24"/>
                </a:solidFill>
              </a:defRPr>
            </a:pPr>
            <a:r>
              <a:t>SNOMED CT</a:t>
            </a:r>
          </a:p>
          <a:p>
            <a:pPr>
              <a:spcBef>
                <a:spcPts val="400"/>
              </a:spcBef>
              <a:defRPr b="1" sz="1100">
                <a:solidFill>
                  <a:srgbClr val="94BA33"/>
                </a:solidFill>
              </a:defRPr>
            </a:pPr>
            <a:r>
              <a:t>Clinical Findings &amp; Anatomy</a:t>
            </a:r>
          </a:p>
          <a:p>
            <a:pPr>
              <a:spcBef>
                <a:spcPts val="1200"/>
              </a:spcBef>
              <a:defRPr sz="1050">
                <a:solidFill>
                  <a:srgbClr val="142118"/>
                </a:solidFill>
              </a:defRPr>
            </a:pPr>
            <a:r>
              <a:t>Systematized Nomenclature of Medicine. Comprehensive clinical terminology covering diseases, symptoms, anatomical sites, and surgical procedures.</a:t>
            </a:r>
            <a:br/>
            <a:br/>
            <a:r>
              <a:t>Example: Code 439401001 specifies 'Raman spectroscopy' as a diagnostic testing method.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828800"/>
            <a:ext cx="34290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800">
                <a:solidFill>
                  <a:srgbClr val="1B3E24"/>
                </a:solidFill>
              </a:defRPr>
            </a:pPr>
            <a:r>
              <a:t>ICD-10</a:t>
            </a:r>
          </a:p>
          <a:p>
            <a:pPr>
              <a:spcBef>
                <a:spcPts val="400"/>
              </a:spcBef>
              <a:defRPr b="1" sz="1100">
                <a:solidFill>
                  <a:srgbClr val="94BA33"/>
                </a:solidFill>
              </a:defRPr>
            </a:pPr>
            <a:r>
              <a:t>Epidemiology &amp; Hospital Billing</a:t>
            </a:r>
          </a:p>
          <a:p>
            <a:pPr>
              <a:spcBef>
                <a:spcPts val="1200"/>
              </a:spcBef>
              <a:defRPr sz="1050">
                <a:solidFill>
                  <a:srgbClr val="142118"/>
                </a:solidFill>
              </a:defRPr>
            </a:pPr>
            <a:r>
              <a:t>International Classification of Diseases (WHO). Standardizes disease classification, mortality reporting, and insurance claims.</a:t>
            </a:r>
            <a:br/>
            <a:br/>
            <a:r>
              <a:t>Example: Code C50.9 denotes 'Malignant neoplasm of breast, unspecified'.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AIT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Connecting Sensor Telemetry to FHIR: Raman Glucose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How a reading from the AIT BloodGlucose-App POC is serialized into a standard FHIR Observation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43891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100">
                <a:solidFill>
                  <a:srgbClr val="94BA33"/>
                </a:solidFill>
              </a:defRPr>
            </a:pPr>
            <a:r>
              <a:t>THE SENSOR-TO-STANDARD BRIDGE</a:t>
            </a:r>
          </a:p>
          <a:p>
            <a:pPr>
              <a:spcBef>
                <a:spcPts val="400"/>
              </a:spcBef>
              <a:defRPr b="1" sz="1600">
                <a:solidFill>
                  <a:srgbClr val="1B3E24"/>
                </a:solidFill>
              </a:defRPr>
            </a:pPr>
            <a:r>
              <a:t>From Laser Optics to Standard JSON</a:t>
            </a:r>
          </a:p>
          <a:p>
            <a:pPr>
              <a:spcBef>
                <a:spcPts val="800"/>
              </a:spcBef>
              <a:defRPr b="1" sz="1050">
                <a:solidFill>
                  <a:srgbClr val="142118"/>
                </a:solidFill>
              </a:defRPr>
            </a:pPr>
            <a:r>
              <a:t>• 1. Optical Sensing: </a:t>
            </a:r>
            <a:r>
              <a:rPr b="0">
                <a:solidFill>
                  <a:srgbClr val="526458"/>
                </a:solidFill>
              </a:rPr>
              <a:t>Raman spectrometer captures molecular vibrational scattering from human tissue.</a:t>
            </a:r>
          </a:p>
          <a:p>
            <a:pPr>
              <a:spcBef>
                <a:spcPts val="800"/>
              </a:spcBef>
              <a:defRPr b="1" sz="1050">
                <a:solidFill>
                  <a:srgbClr val="142118"/>
                </a:solidFill>
              </a:defRPr>
            </a:pPr>
            <a:r>
              <a:t>• 2. Edge ML Calibration: </a:t>
            </a:r>
            <a:r>
              <a:rPr b="0">
                <a:solidFill>
                  <a:srgbClr val="526458"/>
                </a:solidFill>
              </a:rPr>
              <a:t>BloodGlucose-App algorithms estimate blood glucose concentration (118 mg/dL).</a:t>
            </a:r>
          </a:p>
          <a:p>
            <a:pPr>
              <a:spcBef>
                <a:spcPts val="800"/>
              </a:spcBef>
              <a:defRPr b="1" sz="1050">
                <a:solidFill>
                  <a:srgbClr val="142118"/>
                </a:solidFill>
              </a:defRPr>
            </a:pPr>
            <a:r>
              <a:t>• 3. Standard LOINC Code: </a:t>
            </a:r>
            <a:r>
              <a:rPr b="0">
                <a:solidFill>
                  <a:srgbClr val="526458"/>
                </a:solidFill>
              </a:rPr>
              <a:t>LOINC 2339-0 unambiguously identifies the measurement as 'Glucose in Blood'.</a:t>
            </a:r>
          </a:p>
          <a:p>
            <a:pPr>
              <a:spcBef>
                <a:spcPts val="800"/>
              </a:spcBef>
              <a:defRPr b="1" sz="1050">
                <a:solidFill>
                  <a:srgbClr val="142118"/>
                </a:solidFill>
              </a:defRPr>
            </a:pPr>
            <a:r>
              <a:t>• 4. Method Metadata: </a:t>
            </a:r>
            <a:r>
              <a:rPr b="0">
                <a:solidFill>
                  <a:srgbClr val="526458"/>
                </a:solidFill>
              </a:rPr>
              <a:t>SNOMED CT 439401001 documents that the non-invasive method was Raman spectroscopy.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0" y="1828800"/>
            <a:ext cx="6035040" cy="4389120"/>
          </a:xfrm>
          <a:prstGeom prst="roundRect">
            <a:avLst/>
          </a:prstGeom>
          <a:solidFill>
            <a:srgbClr val="131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000">
                <a:solidFill>
                  <a:srgbClr val="94BA33"/>
                </a:solidFill>
                <a:latin typeface="Courier New"/>
              </a:defRPr>
            </a:pPr>
            <a:r>
              <a:t>// Standard FHIR R4 Observation Resource</a:t>
            </a:r>
          </a:p>
          <a:p>
            <a:pPr>
              <a:spcBef>
                <a:spcPts val="400"/>
              </a:spcBef>
              <a:defRPr sz="900">
                <a:solidFill>
                  <a:srgbClr val="A6E22E"/>
                </a:solidFill>
                <a:latin typeface="Courier New"/>
              </a:defRPr>
            </a:pPr>
            <a:r>
              <a:t>{</a:t>
            </a:r>
            <a:br/>
            <a:r>
              <a:t>  "resourceType": "Observation",</a:t>
            </a:r>
            <a:br/>
            <a:r>
              <a:t>  "id": "obs-glucose-raman-ait-001",</a:t>
            </a:r>
            <a:br/>
            <a:r>
              <a:t>  "status": "final",</a:t>
            </a:r>
          </a:p>
          <a:p>
            <a:pPr>
              <a:spcBef>
                <a:spcPts val="400"/>
              </a:spcBef>
              <a:defRPr sz="900">
                <a:solidFill>
                  <a:srgbClr val="A6E22E"/>
                </a:solidFill>
                <a:latin typeface="Courier New"/>
              </a:defRPr>
            </a:pPr>
            <a:r>
              <a:t>  "code": {</a:t>
            </a:r>
            <a:br/>
            <a:r>
              <a:t>    "coding": [{</a:t>
            </a:r>
            <a:br/>
            <a:r>
              <a:t>      "system": "http://loinc.org",</a:t>
            </a:r>
            <a:br/>
            <a:r>
              <a:t>      "code": "2339-0",</a:t>
            </a:r>
            <a:br/>
            <a:r>
              <a:t>      "display": "Glucose in Blood"</a:t>
            </a:r>
            <a:br/>
            <a:r>
              <a:t>    }]</a:t>
            </a:r>
            <a:br/>
            <a:r>
              <a:t>  },</a:t>
            </a:r>
          </a:p>
          <a:p>
            <a:pPr>
              <a:spcBef>
                <a:spcPts val="400"/>
              </a:spcBef>
              <a:defRPr sz="900">
                <a:solidFill>
                  <a:srgbClr val="A6E22E"/>
                </a:solidFill>
                <a:latin typeface="Courier New"/>
              </a:defRPr>
            </a:pPr>
            <a:r>
              <a:t>  "subject": { "reference": "Patient/P0001" },</a:t>
            </a:r>
            <a:br/>
            <a:r>
              <a:t>  "effectiveDateTime": "2026-09-09T10:30:00+07:00",</a:t>
            </a:r>
          </a:p>
          <a:p>
            <a:pPr>
              <a:spcBef>
                <a:spcPts val="400"/>
              </a:spcBef>
              <a:defRPr sz="900">
                <a:solidFill>
                  <a:srgbClr val="A6E22E"/>
                </a:solidFill>
                <a:latin typeface="Courier New"/>
              </a:defRPr>
            </a:pPr>
            <a:r>
              <a:t>  "valueQuantity": {</a:t>
            </a:r>
            <a:br/>
            <a:r>
              <a:t>    "value": 118,</a:t>
            </a:r>
            <a:br/>
            <a:r>
              <a:t>    "unit": "mg/dL",</a:t>
            </a:r>
            <a:br/>
            <a:r>
              <a:t>    "system": "http://unitsofmeasure.org",</a:t>
            </a:r>
            <a:br/>
            <a:r>
              <a:t>    "code": "mg/dL"</a:t>
            </a:r>
            <a:br/>
            <a:r>
              <a:t>  },</a:t>
            </a:r>
          </a:p>
          <a:p>
            <a:pPr>
              <a:spcBef>
                <a:spcPts val="400"/>
              </a:spcBef>
              <a:defRPr sz="900">
                <a:solidFill>
                  <a:srgbClr val="A6E22E"/>
                </a:solidFill>
                <a:latin typeface="Courier New"/>
              </a:defRPr>
            </a:pPr>
            <a:r>
              <a:t>  "method": {</a:t>
            </a:r>
            <a:br/>
            <a:r>
              <a:t>    "coding": [{</a:t>
            </a:r>
            <a:br/>
            <a:r>
              <a:t>      "system": "http://snomed.info/sct",</a:t>
            </a:r>
            <a:br/>
            <a:r>
              <a:t>      "code": "439401001",</a:t>
            </a:r>
            <a:br/>
            <a:r>
              <a:t>      "display": "Raman spectroscopy"</a:t>
            </a:r>
            <a:br/>
            <a:r>
              <a:t>    }]</a:t>
            </a:r>
            <a:br/>
            <a:r>
              <a:t> 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HEALTH AI READINESS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The New Dilemma: Is FHIR R4 Actually "AI-Ready"?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Why transactional healthcare records (OLTP) require four strict pillars to become fit for ML (OLAP)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25146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b="1" sz="1100">
                <a:solidFill>
                  <a:srgbClr val="285C36"/>
                </a:solidFill>
              </a:defRPr>
            </a:pPr>
            <a:r>
              <a:t>01. Completeness</a:t>
            </a:r>
          </a:p>
          <a:p>
            <a:pPr>
              <a:spcBef>
                <a:spcPts val="600"/>
              </a:spcBef>
              <a:defRPr b="1" sz="1300">
                <a:solidFill>
                  <a:srgbClr val="1B3E24"/>
                </a:solidFill>
              </a:defRPr>
            </a:pPr>
            <a:r>
              <a:t>Presence of Critical Confounders</a:t>
            </a:r>
          </a:p>
          <a:p>
            <a:pPr>
              <a:spcBef>
                <a:spcPts val="1000"/>
              </a:spcBef>
              <a:defRPr sz="1050">
                <a:solidFill>
                  <a:srgbClr val="142118"/>
                </a:solidFill>
              </a:defRPr>
            </a:pPr>
            <a:r>
              <a:t>Are essential clinical confounders (patient age, biological sex, comorbidities) recorded alongside the lab measurements?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5146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b="1" sz="1100">
                <a:solidFill>
                  <a:srgbClr val="94BA33"/>
                </a:solidFill>
              </a:defRPr>
            </a:pPr>
            <a:r>
              <a:t>02. Semantic Fidelity</a:t>
            </a:r>
          </a:p>
          <a:p>
            <a:pPr>
              <a:spcBef>
                <a:spcPts val="600"/>
              </a:spcBef>
              <a:defRPr b="1" sz="1300">
                <a:solidFill>
                  <a:srgbClr val="1B3E24"/>
                </a:solidFill>
              </a:defRPr>
            </a:pPr>
            <a:r>
              <a:t>Harmonized Units &amp; Coding</a:t>
            </a:r>
          </a:p>
          <a:p>
            <a:pPr>
              <a:spcBef>
                <a:spcPts val="1000"/>
              </a:spcBef>
              <a:defRPr sz="1050">
                <a:solidFill>
                  <a:srgbClr val="142118"/>
                </a:solidFill>
              </a:defRPr>
            </a:pPr>
            <a:r>
              <a:t>Are measurement units identical across all clinical sites? Did one clinic report in mg/dL while another reported in mmol/L?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828800"/>
            <a:ext cx="25146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b="1" sz="1100">
                <a:solidFill>
                  <a:srgbClr val="C0392B"/>
                </a:solidFill>
              </a:defRPr>
            </a:pPr>
            <a:r>
              <a:t>03. Temporal Integrity</a:t>
            </a:r>
          </a:p>
          <a:p>
            <a:pPr>
              <a:spcBef>
                <a:spcPts val="600"/>
              </a:spcBef>
              <a:defRPr b="1" sz="1300">
                <a:solidFill>
                  <a:srgbClr val="1B3E24"/>
                </a:solidFill>
              </a:defRPr>
            </a:pPr>
            <a:r>
              <a:t>Strict Time-Sequence Ordering</a:t>
            </a:r>
          </a:p>
          <a:p>
            <a:pPr>
              <a:spcBef>
                <a:spcPts val="1000"/>
              </a:spcBef>
              <a:defRPr sz="1050">
                <a:solidFill>
                  <a:srgbClr val="142118"/>
                </a:solidFill>
              </a:defRPr>
            </a:pPr>
            <a:r>
              <a:t>Do feature observations strictly precede the diagnostic outcome? (Including post-diagnosis drugs leaks future labels).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828800"/>
            <a:ext cx="25146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b="1" sz="1100">
                <a:solidFill>
                  <a:srgbClr val="1B3E24"/>
                </a:solidFill>
              </a:defRPr>
            </a:pPr>
            <a:r>
              <a:t>04. Provenance</a:t>
            </a:r>
          </a:p>
          <a:p>
            <a:pPr>
              <a:spcBef>
                <a:spcPts val="600"/>
              </a:spcBef>
              <a:defRPr b="1" sz="1300">
                <a:solidFill>
                  <a:srgbClr val="1B3E24"/>
                </a:solidFill>
              </a:defRPr>
            </a:pPr>
            <a:r>
              <a:t>Understanding Selection Bias</a:t>
            </a:r>
          </a:p>
          <a:p>
            <a:pPr>
              <a:spcBef>
                <a:spcPts val="1000"/>
              </a:spcBef>
              <a:defRPr sz="1050">
                <a:solidFill>
                  <a:srgbClr val="142118"/>
                </a:solidFill>
              </a:defRPr>
            </a:pPr>
            <a:r>
              <a:t>How was the patient cohort selected? Does the dataset represent the community, or only severe tertiary-care referrals?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DATA QUALITY REALITIES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Clinical Reality 1: Informative Missingness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Absence of evidence is not evidence of absence in medical records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106984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 tIns="365760"/>
          <a:lstStyle/>
          <a:p>
            <a:pPr algn="ctr">
              <a:defRPr b="1" sz="1100">
                <a:solidFill>
                  <a:srgbClr val="C0392B"/>
                </a:solidFill>
              </a:defRPr>
            </a:pPr>
            <a:r>
              <a:t>TESTS ARE NOT ORDERED AT RANDOM</a:t>
            </a:r>
          </a:p>
          <a:p>
            <a:pPr>
              <a:spcBef>
                <a:spcPts val="600"/>
              </a:spcBef>
              <a:defRPr b="1" sz="2000">
                <a:solidFill>
                  <a:srgbClr val="1B3E24"/>
                </a:solidFill>
              </a:defRPr>
            </a:pPr>
            <a:r>
              <a:t>The Missingness Itself is Clinical Information</a:t>
            </a:r>
          </a:p>
          <a:p>
            <a:pPr>
              <a:spcBef>
                <a:spcPts val="1200"/>
              </a:spcBef>
              <a:defRPr b="1" sz="1200">
                <a:solidFill>
                  <a:srgbClr val="142118"/>
                </a:solidFill>
              </a:defRPr>
            </a:pPr>
            <a:r>
              <a:t>Doctors Order Tests for Sick Patients: </a:t>
            </a:r>
            <a:r>
              <a:rPr b="0">
                <a:solidFill>
                  <a:srgbClr val="526458"/>
                </a:solidFill>
              </a:rPr>
              <a:t>In physical telemetry (e.g. soil sensors or vibration gauges), missing data is often random hardware packet loss. In healthcare, a troponin test or a biopsy is only ordered when a doctor suspects severe disease. Healthy patients are missing tests precisely because they are healthy!</a:t>
            </a:r>
          </a:p>
          <a:p>
            <a:pPr>
              <a:spcBef>
                <a:spcPts val="1200"/>
              </a:spcBef>
              <a:defRPr b="1" sz="1200">
                <a:solidFill>
                  <a:srgbClr val="142118"/>
                </a:solidFill>
              </a:defRPr>
            </a:pPr>
            <a:r>
              <a:t>The Imputation Trap: </a:t>
            </a:r>
            <a:r>
              <a:rPr b="0">
                <a:solidFill>
                  <a:srgbClr val="526458"/>
                </a:solidFill>
              </a:rPr>
              <a:t>Imputing a missing test with the population mean or median falsely assigns a sick value to a healthy patient, distorting the classification boundary.</a:t>
            </a:r>
          </a:p>
          <a:p>
            <a:pPr>
              <a:spcBef>
                <a:spcPts val="1200"/>
              </a:spcBef>
              <a:defRPr b="1" sz="1200">
                <a:solidFill>
                  <a:srgbClr val="142118"/>
                </a:solidFill>
              </a:defRPr>
            </a:pPr>
            <a:r>
              <a:t>Afternoon Demonstration: </a:t>
            </a:r>
            <a:r>
              <a:rPr b="0">
                <a:solidFill>
                  <a:srgbClr val="526458"/>
                </a:solidFill>
              </a:rPr>
              <a:t>In Step 1 (scripts/01_fhir_to_table.py --drop area), patient P0010 comes back with a missing value. The pipeline doesn't crash; it handles missingness safely via scikit-learn's SimpleImputer.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EVALUATION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Clinical Reality 2: Class Imbalance &amp; Label Leakage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Why naive accuracy scores lie, and how feature leakage ruins clinical models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C0392B"/>
                </a:solidFill>
              </a:defRPr>
            </a:pPr>
            <a:r>
              <a:t>THE ACCURACY TRAP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62.7% Majority-Class Baseline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The Naive Classifier: </a:t>
            </a:r>
            <a:r>
              <a:rPr b="0">
                <a:solidFill>
                  <a:srgbClr val="526458"/>
                </a:solidFill>
              </a:rPr>
              <a:t>In our cohort of 569 patients, 357 are benign (62.7%) and 212 are malignant (37.3%).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Doing Nothing is 62.7% Accurate: </a:t>
            </a:r>
            <a:r>
              <a:rPr b="0">
                <a:solidFill>
                  <a:srgbClr val="526458"/>
                </a:solidFill>
              </a:rPr>
              <a:t>A dummy model predicting 'benign' every single time is already 62.7% accurate, but completely useless—it kills every cancer patient!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The Lesson: </a:t>
            </a:r>
            <a:r>
              <a:rPr b="0">
                <a:solidFill>
                  <a:srgbClr val="526458"/>
                </a:solidFill>
              </a:rPr>
              <a:t>Never report raw accuracy alone in healthcare. We evaluate ROC-AUC, Sensitivity (Recall), and False Negatives.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C0392B"/>
                </a:solidFill>
              </a:defRPr>
            </a:pPr>
            <a:r>
              <a:t>FEATURE LEAKAGE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Leaking the Future Into Features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The Symptom: </a:t>
            </a:r>
            <a:r>
              <a:rPr b="0">
                <a:solidFill>
                  <a:srgbClr val="526458"/>
                </a:solidFill>
              </a:rPr>
              <a:t>Model scores 99.8% accuracy on training data, but fails immediately in real-world clinic trials.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The Cause: </a:t>
            </a:r>
            <a:r>
              <a:rPr b="0">
                <a:solidFill>
                  <a:srgbClr val="526458"/>
                </a:solidFill>
              </a:rPr>
              <a:t>Accidentally including features recorded after the diagnosis: e.g. 'oncologist consultation date' or 'prescribed chemotherapy drug'.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Rule of Thumb: </a:t>
            </a:r>
            <a:r>
              <a:rPr b="0">
                <a:solidFill>
                  <a:srgbClr val="526458"/>
                </a:solidFill>
              </a:rPr>
              <a:t>Input features MUST only reflect information available to the clinician at the exact moment of decision.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THE CORE TECHNICAL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The Data Impedance Mismatch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Why machine learning frameworks cannot directly ingest clinical FHIR standards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285C36"/>
                </a:solidFill>
              </a:defRPr>
            </a:pPr>
            <a:r>
              <a:t>HOW HOSPITALS STORE DATA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Hierarchical Clinical Events (FHIR)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Data Structure:</a:t>
            </a:r>
            <a:br/>
            <a:r>
              <a:rPr b="0">
                <a:solidFill>
                  <a:srgbClr val="526458"/>
                </a:solidFill>
              </a:rPr>
              <a:t>Deeply nested JSON resource trees linked by logical URIs and references.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Temporal Characteristics:</a:t>
            </a:r>
            <a:br/>
            <a:r>
              <a:rPr b="0">
                <a:solidFill>
                  <a:srgbClr val="526458"/>
                </a:solidFill>
              </a:rPr>
              <a:t>Variable-length event histories over months or years. Irregular sampling intervals.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Heterogeneity:</a:t>
            </a:r>
            <a:br/>
            <a:r>
              <a:rPr b="0">
                <a:solidFill>
                  <a:srgbClr val="526458"/>
                </a:solidFill>
              </a:rPr>
              <a:t>Mix of coded observations, narrative clinical notes, and multi-value panels.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94BA33"/>
                </a:solidFill>
              </a:defRPr>
            </a:pPr>
            <a:r>
              <a:t>WHAT MACHINE LEARNING REQUIRES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2D Numerical Feature Matrices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Data Structure:</a:t>
            </a:r>
            <a:br/>
            <a:r>
              <a:rPr b="0">
                <a:solidFill>
                  <a:srgbClr val="526458"/>
                </a:solidFill>
              </a:rPr>
              <a:t>Rigid 2D arrays: Feature matrix X in R^{N x D} and target label vector y in {0, 1}.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Strict Demands:</a:t>
            </a:r>
            <a:br/>
            <a:r>
              <a:rPr b="0">
                <a:solidFill>
                  <a:srgbClr val="526458"/>
                </a:solidFill>
              </a:rPr>
              <a:t>Every patient must have exactly D columns. Algorithms like Logistic Regression cannot handle raw JSON.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The Workshop Core:</a:t>
            </a:r>
            <a:br/>
            <a:r>
              <a:rPr b="0">
                <a:solidFill>
                  <a:srgbClr val="526458"/>
                </a:solidFill>
              </a:rPr>
              <a:t>Step 1 this afternoon (scripts/01_fhir_to_table.py) is the bridge that turns hierarchical FHIR into flat tabular features!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ML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Safe Preprocessing Pipelines in Scikit-Learn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Preventing data leakage by encapsulating imputation, scaling, and classification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106984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 tIns="365760"/>
          <a:lstStyle/>
          <a:p>
            <a:pPr algn="ctr">
              <a:defRPr b="1" sz="1100">
                <a:solidFill>
                  <a:srgbClr val="94BA33"/>
                </a:solidFill>
              </a:defRPr>
            </a:pPr>
            <a:r>
              <a:t>THE GOLD STANDARD: FITTING INSIDE THE FOLD</a:t>
            </a:r>
          </a:p>
          <a:p>
            <a:pPr>
              <a:spcBef>
                <a:spcPts val="600"/>
              </a:spcBef>
              <a:defRPr b="1" sz="2000">
                <a:solidFill>
                  <a:srgbClr val="1B3E24"/>
                </a:solidFill>
              </a:defRPr>
            </a:pPr>
            <a:r>
              <a:t>Never Compute Statistics Across the Whole Cohort Before Splitting</a:t>
            </a:r>
          </a:p>
          <a:p>
            <a:pPr>
              <a:spcBef>
                <a:spcPts val="1200"/>
              </a:spcBef>
              <a:defRPr b="1" sz="1200">
                <a:solidFill>
                  <a:srgbClr val="142118"/>
                </a:solidFill>
              </a:defRPr>
            </a:pPr>
            <a:r>
              <a:t>The Common Bug: </a:t>
            </a:r>
            <a:r>
              <a:rPr b="0">
                <a:solidFill>
                  <a:srgbClr val="526458"/>
                </a:solidFill>
              </a:rPr>
              <a:t>Calculating the median to impute missing values or standardizing features using the mean of all 569 patients before splitting into train/test sets leaks information from the future.</a:t>
            </a:r>
          </a:p>
          <a:p>
            <a:pPr>
              <a:spcBef>
                <a:spcPts val="1200"/>
              </a:spcBef>
              <a:defRPr b="1" sz="1200">
                <a:solidFill>
                  <a:srgbClr val="142118"/>
                </a:solidFill>
              </a:defRPr>
            </a:pPr>
            <a:r>
              <a:t>The Scikit-Learn Pipeline: </a:t>
            </a:r>
            <a:r>
              <a:rPr b="0">
                <a:solidFill>
                  <a:srgbClr val="526458"/>
                </a:solidFill>
              </a:rPr>
              <a:t>We bundle SimpleImputer -&gt; StandardScaler -&gt; Classifier into a single Pipeline object. During cross-validation, the imputer and scaler learn parameters strictly from the training folds.</a:t>
            </a:r>
          </a:p>
          <a:p>
            <a:pPr>
              <a:spcBef>
                <a:spcPts val="1200"/>
              </a:spcBef>
              <a:defRPr b="1" sz="1200">
                <a:solidFill>
                  <a:srgbClr val="142118"/>
                </a:solidFill>
              </a:defRPr>
            </a:pPr>
            <a:r>
              <a:t>Exporting as One Artifact: </a:t>
            </a:r>
            <a:r>
              <a:rPr b="0">
                <a:solidFill>
                  <a:srgbClr val="526458"/>
                </a:solidFill>
              </a:rPr>
              <a:t>When saving models to disk (models/model.joblib in Step 3), we save the entire Pipeline. Serving new incoming FHIR patients requires zero external preprocessing scripts.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CLINICAL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Closing the Loop: Predictions Back as FHIR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An AI model that cannot write back to the clinical workflow has zero clinical utility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106984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 tIns="365760"/>
          <a:lstStyle/>
          <a:p>
            <a:pPr algn="ctr">
              <a:defRPr b="1" sz="1100">
                <a:solidFill>
                  <a:srgbClr val="94BA33"/>
                </a:solidFill>
              </a:defRPr>
            </a:pPr>
            <a:r>
              <a:t>STEP 5 IN THE AFTERNOON WORKSHOP</a:t>
            </a:r>
          </a:p>
          <a:p>
            <a:pPr>
              <a:spcBef>
                <a:spcPts val="600"/>
              </a:spcBef>
              <a:defRPr b="1" sz="2000">
                <a:solidFill>
                  <a:srgbClr val="1B3E24"/>
                </a:solidFill>
              </a:defRPr>
            </a:pPr>
            <a:r>
              <a:t>Writing Model Inference Directly Into the Electronic Health Record</a:t>
            </a:r>
          </a:p>
          <a:p>
            <a:pPr>
              <a:spcBef>
                <a:spcPts val="1200"/>
              </a:spcBef>
              <a:defRPr b="1" sz="1200">
                <a:solidFill>
                  <a:srgbClr val="142118"/>
                </a:solidFill>
              </a:defRPr>
            </a:pPr>
            <a:r>
              <a:t>The Deployment Gap: </a:t>
            </a:r>
            <a:r>
              <a:rPr b="0">
                <a:solidFill>
                  <a:srgbClr val="526458"/>
                </a:solidFill>
              </a:rPr>
              <a:t>A trained machine learning model trapped inside a Jupyter notebook saves zero lives. Clinicians will never open a Python console.</a:t>
            </a:r>
          </a:p>
          <a:p>
            <a:pPr>
              <a:spcBef>
                <a:spcPts val="1200"/>
              </a:spcBef>
              <a:defRPr b="1" sz="1200">
                <a:solidFill>
                  <a:srgbClr val="142118"/>
                </a:solidFill>
              </a:defRPr>
            </a:pPr>
            <a:r>
              <a:t>Standard Clinical Output: </a:t>
            </a:r>
            <a:r>
              <a:rPr b="0">
                <a:solidFill>
                  <a:srgbClr val="526458"/>
                </a:solidFill>
              </a:rPr>
              <a:t>In Step 5c of this afternoon's hands-on session, clicking 'Send to record' in the Streamlit application serializes the predicted cancer probability into a valid FHIR RiskAssessment and Observation resource.</a:t>
            </a:r>
          </a:p>
          <a:p>
            <a:pPr>
              <a:spcBef>
                <a:spcPts val="1200"/>
              </a:spcBef>
              <a:defRPr b="1" sz="1200">
                <a:solidFill>
                  <a:srgbClr val="142118"/>
                </a:solidFill>
              </a:defRPr>
            </a:pPr>
            <a:r>
              <a:t>Seamless EHR Integration: </a:t>
            </a:r>
            <a:r>
              <a:rPr b="0">
                <a:solidFill>
                  <a:srgbClr val="526458"/>
                </a:solidFill>
              </a:rPr>
              <a:t>Because the prediction is returned as a standard FHIR resource, any modern EHR can consume the risk score without knowing or caring that it was generated by scikit-learn.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THE GENERATIVE AI 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LLMs, Clinical Agents &amp; Context Formats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Why modern clinical AI assistants consume Markdown, RAG, and MCP rather than raw FHIR JSON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34290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600">
                <a:solidFill>
                  <a:srgbClr val="C0392B"/>
                </a:solidFill>
              </a:defRPr>
            </a:pPr>
            <a:r>
              <a:t>The Token Bloat Trap</a:t>
            </a:r>
          </a:p>
          <a:p>
            <a:pPr>
              <a:spcBef>
                <a:spcPts val="400"/>
              </a:spcBef>
              <a:defRPr b="1" sz="1100">
                <a:solidFill>
                  <a:srgbClr val="1B3E24"/>
                </a:solidFill>
              </a:defRPr>
            </a:pPr>
            <a:r>
              <a:t>Raw FHIR in LLM Contexts</a:t>
            </a:r>
          </a:p>
          <a:p>
            <a:pPr>
              <a:spcBef>
                <a:spcPts val="1000"/>
              </a:spcBef>
              <a:defRPr sz="1050">
                <a:solidFill>
                  <a:srgbClr val="142118"/>
                </a:solidFill>
              </a:defRPr>
            </a:pPr>
            <a:r>
              <a:t>A single FHIR Observation consumes 300–500 tokens of nested schema boilerplate (`resourceType`, `system`, `coding`).</a:t>
            </a:r>
            <a:br/>
            <a:br/>
            <a:r>
              <a:t>Dumping an entire patient chart burns 50,000+ tokens, diluting clinical signal and increasing hallucination risks.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828800"/>
            <a:ext cx="34290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600">
                <a:solidFill>
                  <a:srgbClr val="285C36"/>
                </a:solidFill>
              </a:defRPr>
            </a:pPr>
            <a:r>
              <a:t>Emerging Context Formats</a:t>
            </a:r>
          </a:p>
          <a:p>
            <a:pPr>
              <a:spcBef>
                <a:spcPts val="400"/>
              </a:spcBef>
              <a:defRPr b="1" sz="1100">
                <a:solidFill>
                  <a:srgbClr val="1B3E24"/>
                </a:solidFill>
              </a:defRPr>
            </a:pPr>
            <a:r>
              <a:t>Markdown &amp; Vector RAG</a:t>
            </a:r>
          </a:p>
          <a:p>
            <a:pPr>
              <a:spcBef>
                <a:spcPts val="1000"/>
              </a:spcBef>
              <a:defRPr sz="1050">
                <a:solidFill>
                  <a:srgbClr val="142118"/>
                </a:solidFill>
              </a:defRPr>
            </a:pPr>
            <a:r>
              <a:t>• Markdown (.md): Transforming FHIR JSON into clean markdown tables reduces token overhead by 60–75% while boosting LLM reasoning.</a:t>
            </a:r>
            <a:br/>
            <a:br/>
            <a:r>
              <a:t>• Clinical RAG: Semantic search over vector databases (e.g. pgvector, Chroma) retrieves relevant clinical notes and guidelines.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828800"/>
            <a:ext cx="34290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600">
                <a:solidFill>
                  <a:srgbClr val="94BA33"/>
                </a:solidFill>
              </a:defRPr>
            </a:pPr>
            <a:r>
              <a:t>Agentic Tool-Calling</a:t>
            </a:r>
          </a:p>
          <a:p>
            <a:pPr>
              <a:spcBef>
                <a:spcPts val="400"/>
              </a:spcBef>
              <a:defRPr b="1" sz="1100">
                <a:solidFill>
                  <a:srgbClr val="1B3E24"/>
                </a:solidFill>
              </a:defRPr>
            </a:pPr>
            <a:r>
              <a:t>Model Context Protocol (MCP)</a:t>
            </a:r>
          </a:p>
          <a:p>
            <a:pPr>
              <a:spcBef>
                <a:spcPts val="1000"/>
              </a:spcBef>
              <a:defRPr sz="1050">
                <a:solidFill>
                  <a:srgbClr val="142118"/>
                </a:solidFill>
              </a:defRPr>
            </a:pPr>
            <a:r>
              <a:t>Instead of large prompt dumps, autonomous clinical agents query structured tools on-demand:</a:t>
            </a:r>
            <a:br/>
            <a:br/>
            <a:r>
              <a:t>• get_patient_labs(id, 'glucose')</a:t>
            </a:r>
            <a:br/>
            <a:r>
              <a:t>• check_drug_interaction(rx_a, rx_b)</a:t>
            </a:r>
            <a:br/>
            <a:br/>
            <a:r>
              <a:t>Ensures scoped, auditable, and deterministic tool execution.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THE NEXT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Towards AI-Native Health Data Standards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Will healthcare need a new standard designed for machine learning and autonomous agents?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285C36"/>
                </a:solidFill>
              </a:defRPr>
            </a:pPr>
            <a:r>
              <a:t>THE THREE ERAS OF HEALTH DATA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From Hardware Sockets to Autonomous Agents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Era 1: 1989–2011 (Local Machines):</a:t>
            </a:r>
            <a:br/>
            <a:r>
              <a:rPr b="0">
                <a:solidFill>
                  <a:srgbClr val="526458"/>
                </a:solidFill>
              </a:rPr>
              <a:t>HL7 v2: Pipe-delimited ASCII strings over TCP sockets for local hospital LANs.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Era 2: 2014–2025 (Web &amp; Mobile):</a:t>
            </a:r>
            <a:br/>
            <a:r>
              <a:rPr b="0">
                <a:solidFill>
                  <a:srgbClr val="526458"/>
                </a:solidFill>
              </a:rPr>
              <a:t>HL7 FHIR: JSON REST APIs and web standards for apps, clinicians, and portals.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Era 3: 2026+ (Artificial Intelligence):</a:t>
            </a:r>
            <a:br/>
            <a:r>
              <a:rPr b="0">
                <a:solidFill>
                  <a:srgbClr val="526458"/>
                </a:solidFill>
              </a:rPr>
              <a:t>AI-Native Stack: Vector embeddings, token-optimized Markdown, and Agentic MCP tool protocols.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b="1" sz="1100">
                <a:solidFill>
                  <a:srgbClr val="94BA33"/>
                </a:solidFill>
              </a:defRPr>
            </a:pPr>
            <a:r>
              <a:t>THE EMERGING SOLUTION</a:t>
            </a:r>
          </a:p>
          <a:p>
            <a:pPr>
              <a:spcBef>
                <a:spcPts val="600"/>
              </a:spcBef>
              <a:defRPr b="1" sz="1800">
                <a:solidFill>
                  <a:srgbClr val="1B3E24"/>
                </a:solidFill>
              </a:defRPr>
            </a:pPr>
            <a:r>
              <a:t>The Dual-Stack Health Architecture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Layer A · System of Record (FHIR):</a:t>
            </a:r>
            <a:br/>
            <a:r>
              <a:rPr b="0">
                <a:solidFill>
                  <a:srgbClr val="526458"/>
                </a:solidFill>
              </a:rPr>
              <a:t>FHIR remains the authoritative, legally audited, and human-verified patient ledger for billing, medication safety, and clinical charts.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Layer B · System of Intelligence (AI Store):</a:t>
            </a:r>
            <a:br/>
            <a:r>
              <a:rPr b="0">
                <a:solidFill>
                  <a:srgbClr val="526458"/>
                </a:solidFill>
              </a:rPr>
              <a:t>High-performance vector stores and feature stores (e.g. Feast, pgvector) continuously ingest FHIR streams, serving ML models and LLM agents in milliseconds.</a:t>
            </a:r>
          </a:p>
          <a:p>
            <a:pPr>
              <a:spcBef>
                <a:spcPts val="1000"/>
              </a:spcBef>
              <a:defRPr b="1" sz="1100">
                <a:solidFill>
                  <a:srgbClr val="142118"/>
                </a:solidFill>
              </a:defRPr>
            </a:pPr>
            <a:r>
              <a:t>• Health MCP Protocol Standard:</a:t>
            </a:r>
            <a:br/>
            <a:r>
              <a:rPr b="0">
                <a:solidFill>
                  <a:srgbClr val="526458"/>
                </a:solidFill>
              </a:rPr>
              <a:t>Standardizing tool schemas so any clinical AI agent can query and propose treatment orders across any hospital safely.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85C36"/>
                </a:solidFill>
                <a:latin typeface="Arial"/>
              </a:defRPr>
            </a:pPr>
            <a:r>
              <a:t>LUNCH 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1B3E24"/>
                </a:solidFill>
                <a:latin typeface="Arial"/>
              </a:defRPr>
            </a:pPr>
            <a:r>
              <a:t>Tech Check Before Lunch (Library Studio Room)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526458"/>
                </a:solidFill>
                <a:latin typeface="Arial"/>
              </a:defRPr>
            </a:pPr>
            <a:r>
              <a:t>Verify your environment now so the room is 100% ready to run code at 14:00</a:t>
            </a:r>
          </a:p>
        </p:txBody>
      </p:sp>
      <p:pic>
        <p:nvPicPr>
          <p:cNvPr id="6" name="Picture 5" descr="a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1480"/>
            <a:ext cx="1371600" cy="2939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34290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200">
                <a:solidFill>
                  <a:srgbClr val="94BA33"/>
                </a:solidFill>
              </a:defRPr>
            </a:pPr>
            <a:r>
              <a:t>STEP 1: REPO ROOT</a:t>
            </a:r>
          </a:p>
          <a:p>
            <a:pPr>
              <a:spcBef>
                <a:spcPts val="400"/>
              </a:spcBef>
              <a:defRPr b="1" sz="1600">
                <a:solidFill>
                  <a:srgbClr val="1B3E24"/>
                </a:solidFill>
              </a:defRPr>
            </a:pPr>
            <a:r>
              <a:t>Open Terminal on Laptop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  <a:latin typeface="Arial"/>
              </a:defRPr>
            </a:pPr>
            <a:r>
              <a:t>Open your terminal application and navigate into the cloned workshop directory:</a:t>
            </a:r>
            <a:br/>
            <a:br/>
            <a:r>
              <a:t>$ cd fhir-ml-workshop</a:t>
            </a:r>
            <a:br/>
            <a:br/>
            <a:r>
              <a:t>Ensure git branch is set up.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828800"/>
            <a:ext cx="34290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200">
                <a:solidFill>
                  <a:srgbClr val="94BA33"/>
                </a:solidFill>
              </a:defRPr>
            </a:pPr>
            <a:r>
              <a:t>STEP 2: SYNC UV</a:t>
            </a:r>
          </a:p>
          <a:p>
            <a:pPr>
              <a:spcBef>
                <a:spcPts val="400"/>
              </a:spcBef>
              <a:defRPr b="1" sz="1600">
                <a:solidFill>
                  <a:srgbClr val="1B3E24"/>
                </a:solidFill>
              </a:defRPr>
            </a:pPr>
            <a:r>
              <a:t>Download Dependencies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  <a:latin typeface="Arial"/>
              </a:defRPr>
            </a:pPr>
            <a:r>
              <a:t>Run the fast package synchronizer from inside the repository:</a:t>
            </a:r>
            <a:br/>
            <a:br/>
            <a:r>
              <a:t>$ uv sync</a:t>
            </a:r>
            <a:br/>
            <a:br/>
            <a:r>
              <a:t>Downloads and pins the 66 required libraries (~580 MB).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828800"/>
            <a:ext cx="34290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b="1" sz="1200">
                <a:solidFill>
                  <a:srgbClr val="94BA33"/>
                </a:solidFill>
              </a:defRPr>
            </a:pPr>
            <a:r>
              <a:t>STEP 3: TEST SCIKIT</a:t>
            </a:r>
          </a:p>
          <a:p>
            <a:pPr>
              <a:spcBef>
                <a:spcPts val="400"/>
              </a:spcBef>
              <a:defRPr b="1" sz="1600">
                <a:solidFill>
                  <a:srgbClr val="1B3E24"/>
                </a:solidFill>
              </a:defRPr>
            </a:pPr>
            <a:r>
              <a:t>Verify Environment</a:t>
            </a:r>
          </a:p>
          <a:p>
            <a:pPr>
              <a:spcBef>
                <a:spcPts val="1200"/>
              </a:spcBef>
              <a:defRPr sz="1100">
                <a:solidFill>
                  <a:srgbClr val="142118"/>
                </a:solidFill>
                <a:latin typeface="Arial"/>
              </a:defRPr>
            </a:pPr>
            <a:r>
              <a:t>Run the verification one-liner:</a:t>
            </a:r>
            <a:br/>
            <a:br/>
            <a:r>
              <a:t>$ uv run python -c "import sklearn; print(sklearn.__version__)"</a:t>
            </a:r>
            <a:br/>
            <a:br/>
            <a:r>
              <a:t>Should print 1.6.x cleanly!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