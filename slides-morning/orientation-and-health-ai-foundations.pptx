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4" r:id="rId26"/>
    <p:sldId id="280" r:id="rId27"/>
    <p:sldId id="286" r:id="rId28"/>
    <p:sldId id="287" r:id="rId29"/>
    <p:sldId id="281" r:id="rId30"/>
    <p:sldId id="282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9"/>
    <p:restoredTop sz="94677"/>
  </p:normalViewPr>
  <p:slideViewPr>
    <p:cSldViewPr snapToGrid="0" snapToObjects="1">
      <p:cViewPr varScale="1">
        <p:scale>
          <a:sx n="187" d="100"/>
          <a:sy n="187" d="100"/>
        </p:scale>
        <p:origin x="224" y="6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jpeg"/><Relationship Id="rId7" Type="http://schemas.openxmlformats.org/officeDocument/2006/relationships/hyperlink" Target="https://jsss.copernicus.org/articles/9/301/2020/jsss-9-301-2020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hyperlink" Target="https://ejm.copernicus.org/articles/33/77/2021/ejm-33-77-2021.html" TargetMode="External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hyperlink" Target="https://www.rawpixel.com/search/server%20parts%20technolog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286000" cy="48985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" y="2011680"/>
            <a:ext cx="5669280" cy="41148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/>
              <a:t>AIT BRAIN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rPr dirty="0"/>
              <a:t>AI in Healt</a:t>
            </a:r>
            <a:r>
              <a:rPr lang="en-US" dirty="0"/>
              <a:t>h</a:t>
            </a:r>
            <a:endParaRPr dirty="0"/>
          </a:p>
          <a:p>
            <a:pPr>
              <a:spcBef>
                <a:spcPts val="1200"/>
              </a:spcBef>
              <a:defRPr sz="1700">
                <a:solidFill>
                  <a:srgbClr val="94BA33"/>
                </a:solidFill>
              </a:defRPr>
            </a:pPr>
            <a:r>
              <a:rPr dirty="0"/>
              <a:t>Hospital IT History, Modern Standards (HL7 v2, FHIR R4), and Clinical AI Modalities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754880"/>
            <a:ext cx="10515600" cy="128016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dirty="0"/>
              <a:t>Morning Theory Session: 10:00 – 12:00  |  Venue: Library Studio Room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WORKSHOP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rPr lang="en-US" dirty="0"/>
              <a:t>Agenda</a:t>
            </a:r>
            <a:endParaRPr dirty="0"/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226261" y="2356290"/>
            <a:ext cx="3429000" cy="2678983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>
              <a:spcBef>
                <a:spcPts val="400"/>
              </a:spcBef>
              <a:defRPr sz="1600" b="1">
                <a:solidFill>
                  <a:srgbClr val="1B3E24"/>
                </a:solidFill>
              </a:defRPr>
            </a:pPr>
            <a:r>
              <a:rPr dirty="0"/>
              <a:t>History of Hospital IT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rPr dirty="0"/>
              <a:t>How healthcare evolved from paper charts and 1960s mainframes to HL7 v2 and modern FHIR R4 web standards.</a:t>
            </a:r>
            <a:br>
              <a:rPr dirty="0"/>
            </a:br>
            <a:br>
              <a:rPr dirty="0"/>
            </a:br>
            <a:r>
              <a:rPr dirty="0"/>
              <a:t>• Pre-1960 Analog Paper &amp; Tubes</a:t>
            </a:r>
            <a:br>
              <a:rPr dirty="0"/>
            </a:br>
            <a:r>
              <a:rPr dirty="0"/>
              <a:t>• 1960s Mainframes &amp; MUMPS</a:t>
            </a:r>
            <a:br>
              <a:rPr dirty="0"/>
            </a:br>
            <a:r>
              <a:rPr dirty="0"/>
              <a:t>• 1980s Sockets &amp; HL7 Delimiters</a:t>
            </a:r>
            <a:br>
              <a:rPr dirty="0"/>
            </a:br>
            <a:r>
              <a:rPr dirty="0"/>
              <a:t>• 2014+ FHIR REST APIs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356289"/>
            <a:ext cx="3429000" cy="2678983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>
              <a:spcBef>
                <a:spcPts val="400"/>
              </a:spcBef>
              <a:defRPr sz="1600" b="1">
                <a:solidFill>
                  <a:srgbClr val="1B3E24"/>
                </a:solidFill>
              </a:defRPr>
            </a:pPr>
            <a:r>
              <a:rPr dirty="0"/>
              <a:t>Evolution of AI Modalities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rPr dirty="0"/>
              <a:t>How medical data transforms into mathematical representations across four core AI paradigms.</a:t>
            </a:r>
            <a:br>
              <a:rPr dirty="0"/>
            </a:br>
            <a:br>
              <a:rPr dirty="0"/>
            </a:br>
            <a:r>
              <a:rPr dirty="0"/>
              <a:t>• 1. Tabular (Classical ML)</a:t>
            </a:r>
            <a:br>
              <a:rPr dirty="0"/>
            </a:br>
            <a:r>
              <a:rPr dirty="0"/>
              <a:t>• 2. Spatial / Images (Vision)</a:t>
            </a:r>
            <a:br>
              <a:rPr dirty="0"/>
            </a:br>
            <a:r>
              <a:rPr dirty="0"/>
              <a:t>• 3. Time-Series (Telemetry)</a:t>
            </a:r>
            <a:br>
              <a:rPr dirty="0"/>
            </a:br>
            <a:r>
              <a:rPr dirty="0"/>
              <a:t>• 4. Text &amp; LLMs (RAG / MCP)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rPr dirty="0"/>
              <a:t>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Pre-1960: How Hospitals Kept Records Before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Physical charts, pneumatic vacuum tubes, and the dangers of lost medical memory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19" y="1738756"/>
            <a:ext cx="5187649" cy="4753484"/>
          </a:xfrm>
          <a:prstGeom prst="roundRect">
            <a:avLst>
              <a:gd name="adj" fmla="val 5894"/>
            </a:avLst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365760" rIns="36576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rPr dirty="0"/>
              <a:t>THE ANALOG HEALTHCARE SYSTEM</a:t>
            </a:r>
          </a:p>
          <a:p>
            <a:pPr>
              <a:spcBef>
                <a:spcPts val="600"/>
              </a:spcBef>
              <a:defRPr sz="2000" b="1">
                <a:solidFill>
                  <a:srgbClr val="1B3E24"/>
                </a:solidFill>
              </a:defRPr>
            </a:pPr>
            <a:r>
              <a:rPr dirty="0"/>
              <a:t>Paper Folders, Bed Clipboards, and Vacuum Tubes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rPr dirty="0"/>
              <a:t>• The Basement Record Room: </a:t>
            </a:r>
            <a:r>
              <a:rPr b="0" dirty="0">
                <a:solidFill>
                  <a:srgbClr val="526458"/>
                </a:solidFill>
              </a:rPr>
              <a:t>Patient histories lived as </a:t>
            </a:r>
            <a:r>
              <a:rPr b="0" u="sng" dirty="0">
                <a:solidFill>
                  <a:srgbClr val="526458"/>
                </a:solidFill>
              </a:rPr>
              <a:t>physical paper </a:t>
            </a:r>
            <a:r>
              <a:rPr b="0" dirty="0">
                <a:solidFill>
                  <a:srgbClr val="526458"/>
                </a:solidFill>
              </a:rPr>
              <a:t>sheets in cardboard folders filed </a:t>
            </a:r>
            <a:r>
              <a:rPr b="0" u="sng" dirty="0">
                <a:solidFill>
                  <a:srgbClr val="526458"/>
                </a:solidFill>
              </a:rPr>
              <a:t>in massive hospital basements</a:t>
            </a:r>
            <a:r>
              <a:rPr b="0" dirty="0">
                <a:solidFill>
                  <a:srgbClr val="526458"/>
                </a:solidFill>
              </a:rPr>
              <a:t>. Retrieving a record required orderlies to manually locate and pull folders.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rPr dirty="0"/>
              <a:t>• Clipboards at the Foot of the Bed: </a:t>
            </a:r>
            <a:r>
              <a:rPr b="0" dirty="0">
                <a:solidFill>
                  <a:srgbClr val="526458"/>
                </a:solidFill>
              </a:rPr>
              <a:t>Vital signs (temperature, pulse, blood pressure) and medication doses were hand-scribbled by nurses onto paper flowsheets hanging on patient beds.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rPr dirty="0"/>
              <a:t>• Pneumatic Tube Transport: </a:t>
            </a:r>
            <a:r>
              <a:rPr b="0" dirty="0">
                <a:solidFill>
                  <a:srgbClr val="526458"/>
                </a:solidFill>
              </a:rPr>
              <a:t>Blood vials and paper requisition forms were loaded into brass canisters and propelled through hospital pneumatic vacuum tubes directly into the laboratory.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rPr dirty="0"/>
              <a:t>• The Severe Failure Mode: </a:t>
            </a:r>
            <a:r>
              <a:rPr b="0" dirty="0">
                <a:solidFill>
                  <a:srgbClr val="526458"/>
                </a:solidFill>
              </a:rPr>
              <a:t>Records were frequently misfiled, stained, illegible, or lost in fires. If a </a:t>
            </a:r>
            <a:r>
              <a:rPr b="0" u="sng" dirty="0">
                <a:solidFill>
                  <a:srgbClr val="526458"/>
                </a:solidFill>
              </a:rPr>
              <a:t>patient moved</a:t>
            </a:r>
            <a:r>
              <a:rPr b="0" dirty="0">
                <a:solidFill>
                  <a:srgbClr val="526458"/>
                </a:solidFill>
              </a:rPr>
              <a:t> to another town or hospital, their </a:t>
            </a:r>
            <a:r>
              <a:rPr b="0" u="sng" dirty="0">
                <a:solidFill>
                  <a:srgbClr val="526458"/>
                </a:solidFill>
              </a:rPr>
              <a:t>clinical history vanished</a:t>
            </a:r>
            <a:r>
              <a:rPr b="0" dirty="0">
                <a:solidFill>
                  <a:srgbClr val="526458"/>
                </a:solidFill>
              </a:rPr>
              <a:t> completely.</a:t>
            </a:r>
            <a:endParaRPr lang="en-US" b="0" dirty="0">
              <a:solidFill>
                <a:srgbClr val="526458"/>
              </a:solidFill>
            </a:endParaRP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endParaRPr lang="en-TH" dirty="0">
              <a:solidFill>
                <a:srgbClr val="526458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205DFD-4D22-F575-6173-C91F62F70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638" y="2250890"/>
            <a:ext cx="4617371" cy="34080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rPr dirty="0"/>
              <a:t>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1960s: Mainframes, Magnetic Tapes &amp; MUMPS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rPr dirty="0"/>
              <a:t>The birth of digital healthcare computing and the operating system that still runs today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36776"/>
            <a:ext cx="5780962" cy="234531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rPr dirty="0"/>
              <a:t>HARDWARE &amp; SNEAKERNET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rPr dirty="0"/>
              <a:t>IBM Mainframes &amp; Punch Cards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Mainframe Era: </a:t>
            </a:r>
            <a:r>
              <a:rPr b="0" dirty="0">
                <a:solidFill>
                  <a:srgbClr val="526458"/>
                </a:solidFill>
              </a:rPr>
              <a:t>Hospitals installed giant IBM 360/370 systems. Data was entered on 80-column Hollerith punch cards and 9-track magnetic tapes.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The Sneakernet: </a:t>
            </a:r>
            <a:r>
              <a:rPr b="0" dirty="0">
                <a:solidFill>
                  <a:srgbClr val="526458"/>
                </a:solidFill>
              </a:rPr>
              <a:t>No computer networks existed. To submit billing to Medicare or Blue Cross, </a:t>
            </a:r>
            <a:r>
              <a:rPr b="0" u="sng" dirty="0">
                <a:solidFill>
                  <a:srgbClr val="526458"/>
                </a:solidFill>
              </a:rPr>
              <a:t>technicians backed up data to tape reels</a:t>
            </a:r>
            <a:r>
              <a:rPr b="0" dirty="0">
                <a:solidFill>
                  <a:srgbClr val="526458"/>
                </a:solidFill>
              </a:rPr>
              <a:t>, loaded them into car trunks, and physically </a:t>
            </a:r>
            <a:r>
              <a:rPr b="0" u="sng" dirty="0">
                <a:solidFill>
                  <a:srgbClr val="526458"/>
                </a:solidFill>
              </a:rPr>
              <a:t>drove them across town</a:t>
            </a:r>
            <a:r>
              <a:rPr b="0" dirty="0">
                <a:solidFill>
                  <a:srgbClr val="526458"/>
                </a:solidFill>
              </a:rPr>
              <a:t>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Centralized Processing: </a:t>
            </a:r>
            <a:r>
              <a:rPr b="0" dirty="0">
                <a:solidFill>
                  <a:srgbClr val="526458"/>
                </a:solidFill>
              </a:rPr>
              <a:t>Computing was strictly batch-oriented. Doctors could not view real-time records at the bedside.</a:t>
            </a:r>
            <a:endParaRPr lang="en-US" b="0" dirty="0">
              <a:solidFill>
                <a:srgbClr val="526458"/>
              </a:solidFill>
            </a:endParaRP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endParaRPr lang="en-US" b="0" dirty="0">
              <a:solidFill>
                <a:srgbClr val="52645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19" y="4076327"/>
            <a:ext cx="5780962" cy="234531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rPr dirty="0"/>
              <a:t>SOFTWARE REVOLUTION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rPr dirty="0"/>
              <a:t>1966: MUMPS at Mass General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Created for Medicine: </a:t>
            </a:r>
            <a:r>
              <a:rPr b="0" dirty="0">
                <a:solidFill>
                  <a:srgbClr val="526458"/>
                </a:solidFill>
              </a:rPr>
              <a:t>Neil Pappalardo and Dr. Octo Barnett built MUMPS (Mass General Multi-Programming System) specifically for sparse medical records.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Hierarchical Tree </a:t>
            </a:r>
            <a:r>
              <a:rPr dirty="0" err="1"/>
              <a:t>Globals</a:t>
            </a:r>
            <a:r>
              <a:rPr dirty="0"/>
              <a:t>: </a:t>
            </a:r>
            <a:r>
              <a:rPr b="0" dirty="0">
                <a:solidFill>
                  <a:srgbClr val="526458"/>
                </a:solidFill>
              </a:rPr>
              <a:t>Used dynamic sparse trees (^PATIENT(id, 'LAB', 'GLUCOSE') = 105) rather than rigid relational SQL tables.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The Modern Legacy: </a:t>
            </a:r>
            <a:r>
              <a:rPr b="0" dirty="0">
                <a:solidFill>
                  <a:srgbClr val="526458"/>
                </a:solidFill>
              </a:rPr>
              <a:t>MUMPS powered the US Veterans Affairs </a:t>
            </a:r>
            <a:r>
              <a:rPr b="0" dirty="0" err="1">
                <a:solidFill>
                  <a:srgbClr val="526458"/>
                </a:solidFill>
              </a:rPr>
              <a:t>VistA</a:t>
            </a:r>
            <a:r>
              <a:rPr b="0" dirty="0">
                <a:solidFill>
                  <a:srgbClr val="526458"/>
                </a:solidFill>
              </a:rPr>
              <a:t> network. Today, Epic Systems (the world's largest EHR company) still runs its core backend on an advanced MUMPS engine (Caché / IRIS)!</a:t>
            </a:r>
            <a:endParaRPr lang="en-TH" dirty="0">
              <a:solidFill>
                <a:srgbClr val="526458"/>
              </a:solidFill>
            </a:endParaRP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endParaRPr lang="en-TH" dirty="0">
              <a:solidFill>
                <a:srgbClr val="526458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6310BB-7BF3-E80B-6CF0-363BCED15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881" y="1967266"/>
            <a:ext cx="5214853" cy="36523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57EAC2-0303-8F31-5BA7-016EAAA967A0}"/>
              </a:ext>
            </a:extLst>
          </p:cNvPr>
          <p:cNvSpPr txBox="1"/>
          <p:nvPr/>
        </p:nvSpPr>
        <p:spPr>
          <a:xfrm>
            <a:off x="7603766" y="5569586"/>
            <a:ext cx="41777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H" sz="1100" b="1" dirty="0"/>
              <a:t>The Medical Center’s IBM 7904 Mainframe Computer System (1969)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1970s: Departmental Silos &amp; Early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Minicomputers fragmented the hospital into specialized islands; ASTM invented pipe delimiters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67723"/>
            <a:ext cx="3429000" cy="1493753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500" b="1">
                <a:solidFill>
                  <a:srgbClr val="285C36"/>
                </a:solidFill>
              </a:defRPr>
            </a:pPr>
            <a:r>
              <a:rPr dirty="0"/>
              <a:t>Minicomputers</a:t>
            </a:r>
          </a:p>
          <a:p>
            <a:pPr>
              <a:spcBef>
                <a:spcPts val="400"/>
              </a:spcBef>
              <a:defRPr sz="1200" b="1">
                <a:solidFill>
                  <a:srgbClr val="1B3E24"/>
                </a:solidFill>
              </a:defRPr>
            </a:pPr>
            <a:r>
              <a:rPr dirty="0"/>
              <a:t>DEC PDP-11 &amp; VAX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rPr dirty="0"/>
              <a:t>Departments broke away from the central mainframe. Pathology, Radiology, and Pharmacy bought dedicated minicomputers running isolated software.</a:t>
            </a:r>
            <a:endParaRPr lang="en-TH" dirty="0"/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1520" y="3367924"/>
            <a:ext cx="3429000" cy="1493753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500" b="1">
                <a:solidFill>
                  <a:srgbClr val="285C36"/>
                </a:solidFill>
              </a:defRPr>
            </a:pPr>
            <a:r>
              <a:rPr dirty="0"/>
              <a:t>ASTM Committee E31</a:t>
            </a:r>
          </a:p>
          <a:p>
            <a:pPr>
              <a:spcBef>
                <a:spcPts val="400"/>
              </a:spcBef>
              <a:defRPr sz="1200" b="1">
                <a:solidFill>
                  <a:srgbClr val="1B3E24"/>
                </a:solidFill>
              </a:defRPr>
            </a:pPr>
            <a:r>
              <a:rPr dirty="0"/>
              <a:t>The Ancestor of HL7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rPr dirty="0"/>
              <a:t>ASTM standardized automated blood analyzer serial communication (ASTM E1238). Crucially, ASTM invented the pipe and caret delimiter syntax (| and ^)!</a:t>
            </a:r>
            <a:endParaRPr lang="en-US" dirty="0"/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731520" y="4968125"/>
            <a:ext cx="3429000" cy="149375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500" b="1">
                <a:solidFill>
                  <a:srgbClr val="285C36"/>
                </a:solidFill>
              </a:defRPr>
            </a:pPr>
            <a:r>
              <a:rPr dirty="0"/>
              <a:t>UB-82 Billing</a:t>
            </a:r>
          </a:p>
          <a:p>
            <a:pPr>
              <a:spcBef>
                <a:spcPts val="400"/>
              </a:spcBef>
              <a:defRPr sz="1200" b="1">
                <a:solidFill>
                  <a:srgbClr val="1B3E24"/>
                </a:solidFill>
              </a:defRPr>
            </a:pPr>
            <a:r>
              <a:rPr dirty="0"/>
              <a:t>Financial Standardization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rPr dirty="0"/>
              <a:t>National Uniform Billing Committee created UB-82 paper and fixed-width ASCII tape claim formats. Standardized billing codes, but zero clinical clinical depth.</a:t>
            </a:r>
            <a:endParaRPr lang="en-TH" dirty="0"/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endParaRPr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D73AE00-3EF9-37A0-CD21-7550DD856724}"/>
              </a:ext>
            </a:extLst>
          </p:cNvPr>
          <p:cNvSpPr/>
          <p:nvPr/>
        </p:nvSpPr>
        <p:spPr>
          <a:xfrm>
            <a:off x="4259462" y="3344192"/>
            <a:ext cx="7802241" cy="3117684"/>
          </a:xfrm>
          <a:prstGeom prst="roundRect">
            <a:avLst>
              <a:gd name="adj" fmla="val 4190"/>
            </a:avLst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lvl="0"/>
            <a:r>
              <a:rPr lang="en-US" sz="1100" b="1" dirty="0">
                <a:solidFill>
                  <a:schemeClr val="tx1"/>
                </a:solidFill>
              </a:rPr>
              <a:t>H (Header Segment): </a:t>
            </a:r>
            <a:r>
              <a:rPr lang="en-US" sz="1100" dirty="0">
                <a:solidFill>
                  <a:schemeClr val="tx1"/>
                </a:solidFill>
              </a:rPr>
              <a:t>Initializes the transmission, establishes the dynamic delimiter set (|, \,  ^, &amp;), identifies the sending clinical instrument (LAB_ANALYZER), and stamps the exact message  generation timestamp (19860512103000 -&gt; May 12, 1986 at 10:30:00 AM).</a:t>
            </a: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lvl="0"/>
            <a:r>
              <a:rPr lang="en-US" sz="1100" b="1" dirty="0">
                <a:solidFill>
                  <a:schemeClr val="tx1"/>
                </a:solidFill>
              </a:rPr>
              <a:t>P (Patient Segment)</a:t>
            </a:r>
            <a:r>
              <a:rPr lang="en-US" sz="1100" dirty="0">
                <a:solidFill>
                  <a:schemeClr val="tx1"/>
                </a:solidFill>
              </a:rPr>
              <a:t>: Contains the primary administrative records for patient sequence 1, documenting the unique patient identifier (P0001) and the patient's full name separated by the component hat (DOE^JANE -&gt; Last Name: Doe, First Name: Jane).</a:t>
            </a: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lvl="0"/>
            <a:r>
              <a:rPr lang="en-US" sz="1100" b="1" dirty="0">
                <a:solidFill>
                  <a:schemeClr val="tx1"/>
                </a:solidFill>
              </a:rPr>
              <a:t>O (Order Segment)</a:t>
            </a:r>
            <a:r>
              <a:rPr lang="en-US" sz="1100" dirty="0">
                <a:solidFill>
                  <a:schemeClr val="tx1"/>
                </a:solidFill>
              </a:rPr>
              <a:t>: Tracks specific test metadata for order sequence 1, binding the lab request to an internal specimen accession/tube barcode (ORD99) and identifying the requested test code and description (^^^2339-0^Glucose -&gt; LOINC 2339-0 for Glucose).</a:t>
            </a: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lvl="0"/>
            <a:r>
              <a:rPr lang="en-US" sz="1100" b="1" dirty="0">
                <a:solidFill>
                  <a:schemeClr val="tx1"/>
                </a:solidFill>
              </a:rPr>
              <a:t>R (Result Segment)</a:t>
            </a:r>
            <a:r>
              <a:rPr lang="en-US" sz="1100" dirty="0">
                <a:solidFill>
                  <a:schemeClr val="tx1"/>
                </a:solidFill>
              </a:rPr>
              <a:t>: Houses the exact quantitative metric generated from the blood specimen for result sequence 1. Documents a measured value of 105 with units mg/dL evaluated against the normal clinical reference range (70-99), automatically raising an abnormal high flag (H for High) with verified final status (F for Final).</a:t>
            </a:r>
          </a:p>
          <a:p>
            <a:pPr lvl="0"/>
            <a:endParaRPr lang="en-US" sz="1100" dirty="0">
              <a:solidFill>
                <a:schemeClr val="tx1"/>
              </a:solidFill>
            </a:endParaRPr>
          </a:p>
          <a:p>
            <a:pPr lvl="0"/>
            <a:r>
              <a:rPr lang="en-US" sz="1100" b="1" dirty="0">
                <a:solidFill>
                  <a:schemeClr val="tx1"/>
                </a:solidFill>
              </a:rPr>
              <a:t>L (Message Terminator Segment):</a:t>
            </a:r>
            <a:r>
              <a:rPr lang="en-US" sz="1100" dirty="0">
                <a:solidFill>
                  <a:schemeClr val="tx1"/>
                </a:solidFill>
              </a:rPr>
              <a:t> Officially marks the absolute boundary of the diagnostic transmission batch at sequence 1, confirming successful completion with termination code N (Normal termination with zero errors).</a:t>
            </a:r>
            <a:endParaRPr lang="en-TH" sz="1100" dirty="0">
              <a:solidFill>
                <a:schemeClr val="tx1"/>
              </a:solidFill>
            </a:endParaRPr>
          </a:p>
          <a:p>
            <a:pPr lvl="0"/>
            <a:endParaRPr lang="en-TH" sz="1100" dirty="0">
              <a:solidFill>
                <a:schemeClr val="tx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9511C53-EEA2-0A11-0F04-81386BCEEC67}"/>
              </a:ext>
            </a:extLst>
          </p:cNvPr>
          <p:cNvSpPr/>
          <p:nvPr/>
        </p:nvSpPr>
        <p:spPr>
          <a:xfrm>
            <a:off x="6510860" y="1652760"/>
            <a:ext cx="3986119" cy="1618985"/>
          </a:xfrm>
          <a:prstGeom prst="roundRect">
            <a:avLst>
              <a:gd name="adj" fmla="val 10159"/>
            </a:avLst>
          </a:prstGeom>
          <a:solidFill>
            <a:schemeClr val="tx1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/>
            <a:r>
              <a:rPr lang="en-TH" sz="1050" dirty="0">
                <a:solidFill>
                  <a:schemeClr val="bg1"/>
                </a:solidFill>
                <a:latin typeface="Courier New"/>
              </a:rPr>
              <a:t>Typical ASTM E1238 Message Example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sz="950" dirty="0">
                <a:solidFill>
                  <a:srgbClr val="A6E22E"/>
                </a:solidFill>
                <a:latin typeface="Courier New"/>
              </a:rPr>
              <a:t>H|\^&amp;|||LAB_ANALYZER||||||||19860512103000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sz="950" dirty="0">
                <a:solidFill>
                  <a:srgbClr val="A6E22E"/>
                </a:solidFill>
                <a:latin typeface="Courier New"/>
              </a:rPr>
              <a:t>P|1||P0001||DOE^JANE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sz="950" dirty="0">
                <a:solidFill>
                  <a:srgbClr val="A6E22E"/>
                </a:solidFill>
                <a:latin typeface="Courier New"/>
              </a:rPr>
              <a:t>O|1|ORD99||^^^2339-0^Glucose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sz="950" dirty="0">
                <a:solidFill>
                  <a:srgbClr val="A6E22E"/>
                </a:solidFill>
                <a:latin typeface="Courier New"/>
              </a:rPr>
              <a:t>R|1|^^^2339-0^Glucose|105|mg/dL|70-99|H||F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sz="950" dirty="0">
                <a:solidFill>
                  <a:srgbClr val="A6E22E"/>
                </a:solidFill>
                <a:latin typeface="Courier New"/>
              </a:rPr>
              <a:t>L|1|N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endParaRPr lang="en-TH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1980s: Local Networks &amp; The Integration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Ethernet connected the hardware, but software was trapped in quadratic complexity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599712"/>
            <a:ext cx="5120640" cy="2429093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rPr dirty="0"/>
              <a:t>THE INTEGRATION SPAGHETTI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rPr dirty="0"/>
              <a:t>The N(N-1)/2 Point-to-Point Trap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Quadratic Explosion: </a:t>
            </a:r>
            <a:r>
              <a:rPr b="0" dirty="0">
                <a:solidFill>
                  <a:srgbClr val="526458"/>
                </a:solidFill>
              </a:rPr>
              <a:t>Every medical vendor used a bespoke schema. Connecting 10 departmental systems required 45 custom interfaces. Connecting 50 required 1,225 bridges!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ACR-NEMA 50-Pin Cable: </a:t>
            </a:r>
            <a:r>
              <a:rPr b="0" dirty="0">
                <a:solidFill>
                  <a:srgbClr val="526458"/>
                </a:solidFill>
              </a:rPr>
              <a:t>In 1985, CT and MRI scanners required a custom, thick 50-pin copper cable running directly from scanner to console before DICOM existed.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Brittle Fragility: </a:t>
            </a:r>
            <a:r>
              <a:rPr b="0" dirty="0">
                <a:solidFill>
                  <a:srgbClr val="526458"/>
                </a:solidFill>
              </a:rPr>
              <a:t>Upgrading a single blood analyzer broke dozens of unmaintained point-to-point translation scripts.</a:t>
            </a:r>
            <a:endParaRPr lang="en-TH" dirty="0">
              <a:solidFill>
                <a:srgbClr val="526458"/>
              </a:solidFill>
            </a:endParaRP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endParaRPr b="0" dirty="0">
              <a:solidFill>
                <a:srgbClr val="52645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4170153"/>
            <a:ext cx="5120640" cy="23732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rPr dirty="0"/>
              <a:t>THE ARCHITECTURAL GAP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rPr dirty="0"/>
              <a:t>OSI Layers 1–4 vs. Layer 7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TCP/IP Solved Moving Packets: </a:t>
            </a:r>
            <a:r>
              <a:rPr dirty="0">
                <a:solidFill>
                  <a:srgbClr val="526458"/>
                </a:solidFill>
              </a:rPr>
              <a:t>Layers </a:t>
            </a:r>
            <a:r>
              <a:rPr b="0" dirty="0">
                <a:solidFill>
                  <a:srgbClr val="526458"/>
                </a:solidFill>
              </a:rPr>
              <a:t>1 through 4 (Ethernet, IP, TCP) successfully routed raw bytes from Computer A to Computer B.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What Do the Bytes Mean?: </a:t>
            </a:r>
            <a:r>
              <a:rPr b="0" dirty="0">
                <a:solidFill>
                  <a:srgbClr val="526458"/>
                </a:solidFill>
              </a:rPr>
              <a:t>When a blood machine sent packets to an EHR, the receiving software had no idea whether the payload was a patient's potassium or a billing invoice.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rPr dirty="0"/>
              <a:t>• The Layer 7 Mandate: </a:t>
            </a:r>
            <a:r>
              <a:rPr b="0" dirty="0">
                <a:solidFill>
                  <a:srgbClr val="526458"/>
                </a:solidFill>
              </a:rPr>
              <a:t>Healthcare desperately needed an agreement at the OSI Application Layer (Layer 7). That realization sparked the creation of HL7.</a:t>
            </a:r>
            <a:endParaRPr lang="en-US" b="0" dirty="0">
              <a:solidFill>
                <a:srgbClr val="526458"/>
              </a:solidFill>
            </a:endParaRP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endParaRPr b="0" dirty="0">
              <a:solidFill>
                <a:srgbClr val="526458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A47CAF-A400-DCEF-F297-EFA8E9476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656" y="3873965"/>
            <a:ext cx="3419354" cy="25725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8F7307-3500-DFF1-F3A3-F21ECF249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878" y="1501609"/>
            <a:ext cx="4580085" cy="22604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rPr dirty="0"/>
              <a:t>1987–1989: The Birth of HL7 (Health Level Seven)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 grassroots group at the University of Pennsylvania solves hospital communication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18078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400" b="1">
                <a:solidFill>
                  <a:srgbClr val="94BA33"/>
                </a:solidFill>
              </a:defRPr>
            </a:pPr>
            <a:r>
              <a:t>MARCH 1987</a:t>
            </a:r>
          </a:p>
          <a:p>
            <a:pPr>
              <a:spcBef>
                <a:spcPts val="400"/>
              </a:spcBef>
              <a:defRPr sz="1500" b="1">
                <a:solidFill>
                  <a:srgbClr val="1B3E24"/>
                </a:solidFill>
              </a:defRPr>
            </a:pPr>
            <a:r>
              <a:t>Committee Formed at HUP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Dr. Sam Schultz (Hospital of the University of Pennsylvania) and Dr. Ed Hammond (Duke) convene hospital IT leaders to bypass slow academic standards.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185672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400" b="1">
                <a:solidFill>
                  <a:srgbClr val="94BA33"/>
                </a:solidFill>
              </a:defRPr>
            </a:pPr>
            <a:r>
              <a:t>OCTOBER 1987</a:t>
            </a:r>
          </a:p>
          <a:p>
            <a:pPr>
              <a:spcBef>
                <a:spcPts val="400"/>
              </a:spcBef>
              <a:defRPr sz="1500" b="1">
                <a:solidFill>
                  <a:srgbClr val="1B3E24"/>
                </a:solidFill>
              </a:defRPr>
            </a:pPr>
            <a:r>
              <a:t>HL7 Version 1.0 (Draft)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An 84-page working draft covering basic Admission, Discharge, Transfer (ADT). Syncs patient room assignments over raw TCP sockets via MLLP framing.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185672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400" b="1">
                <a:solidFill>
                  <a:srgbClr val="94BA33"/>
                </a:solidFill>
              </a:defRPr>
            </a:pPr>
            <a:r>
              <a:t>1989</a:t>
            </a:r>
          </a:p>
          <a:p>
            <a:pPr>
              <a:spcBef>
                <a:spcPts val="400"/>
              </a:spcBef>
              <a:defRPr sz="1500" b="1">
                <a:solidFill>
                  <a:srgbClr val="1B3E24"/>
                </a:solidFill>
              </a:defRPr>
            </a:pPr>
            <a:r>
              <a:t>HL7 Version 2.1 (Commercial)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First production standard widely adopted by major commercial vendors (Baxter, SMS, Sunquest). Becomes the global workhorse of medicine.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D1F1E8-E7E5-CF32-4F1D-2A96F081E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5813" y="3837828"/>
            <a:ext cx="4900067" cy="27314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Anatomy of an HL7 v2 Message (`ORU^R01`)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The pipe-and-hat (| and ^) ASCII format powering hospital messaging since 1989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162008"/>
            <a:ext cx="10728960" cy="305591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>
              <a:defRPr sz="1100" b="1">
                <a:solidFill>
                  <a:srgbClr val="285C36"/>
                </a:solidFill>
              </a:defRPr>
            </a:pPr>
            <a:r>
              <a:rPr lang="en-US" dirty="0"/>
              <a:t> MSH (Message Header Segment</a:t>
            </a:r>
            <a:r>
              <a:rPr lang="en-US" sz="1100" dirty="0">
                <a:solidFill>
                  <a:srgbClr val="142118"/>
                </a:solidFill>
              </a:rPr>
              <a:t>): Initializes the transmission, establishes the encoding delimiters (|, ^, ~, \, &amp;), identifies the sending laboratory device (LAB_ANALYZER) and facility (HOSP), directs the message to the receiving clinical record system (EMR), stamps the message creation time (19890512103000 -&gt; May 12, 1989 at 10:30:00 AM), declares the trigger event (ORU^R01 for an unsolicited clinical observation report), assigns a unique transaction ID (MSG01), sets production mode (P), and specifies the standard version (2.1).</a:t>
            </a:r>
          </a:p>
          <a:p>
            <a:pPr>
              <a:defRPr sz="1100" b="1">
                <a:solidFill>
                  <a:srgbClr val="285C36"/>
                </a:solidFill>
              </a:defRPr>
            </a:pPr>
            <a:endParaRPr lang="en-US" dirty="0"/>
          </a:p>
          <a:p>
            <a:pPr>
              <a:defRPr sz="1100" b="1">
                <a:solidFill>
                  <a:srgbClr val="285C36"/>
                </a:solidFill>
              </a:defRPr>
            </a:pPr>
            <a:r>
              <a:rPr lang="en-US" dirty="0"/>
              <a:t>PID (Patient Identification Segment): Contains the primary administrative and demographic records for patient sequence 1, documenting the patient's medical record number (P0001^^^MRN), legal name separated by the component hat (DOE^JANE -&gt; Last Name: Doe, First Name: Jane), date of birth (19800512 $\</a:t>
            </a:r>
            <a:r>
              <a:rPr lang="en-US" dirty="0" err="1"/>
              <a:t>rightarrow</a:t>
            </a:r>
            <a:r>
              <a:rPr lang="en-US" dirty="0"/>
              <a:t>$ May 12, 1980), and biological sex (F for Female).</a:t>
            </a:r>
          </a:p>
          <a:p>
            <a:pPr>
              <a:defRPr sz="1100" b="1">
                <a:solidFill>
                  <a:srgbClr val="285C36"/>
                </a:solidFill>
              </a:defRPr>
            </a:pPr>
            <a:endParaRPr lang="en-US" dirty="0"/>
          </a:p>
          <a:p>
            <a:pPr>
              <a:defRPr sz="1100" b="1">
                <a:solidFill>
                  <a:srgbClr val="285C36"/>
                </a:solidFill>
              </a:defRPr>
            </a:pPr>
            <a:r>
              <a:rPr lang="en-US" dirty="0"/>
              <a:t>OBR (Observation Request Segment): Tracks clinical order metadata for request sequence 1, binding the laboratory order to a specific specimen accession/tube number (ORD99), identifying the universal service requested via standard coding (2339-0^Glucose^LN -&gt; LOINC code 2339-0 for Blood Glucose), and documenting the blood sample collection timestamp (19890512100000 -&gt; May 12, 1989 at 10:00:00 AM).</a:t>
            </a:r>
          </a:p>
          <a:p>
            <a:pPr>
              <a:defRPr sz="1100" b="1">
                <a:solidFill>
                  <a:srgbClr val="285C36"/>
                </a:solidFill>
              </a:defRPr>
            </a:pPr>
            <a:endParaRPr lang="en-US" dirty="0"/>
          </a:p>
          <a:p>
            <a:pPr>
              <a:defRPr sz="1100" b="1">
                <a:solidFill>
                  <a:srgbClr val="285C36"/>
                </a:solidFill>
              </a:defRPr>
            </a:pPr>
            <a:r>
              <a:rPr lang="en-US" dirty="0"/>
              <a:t>OBX (Observation / Result Segment): Houses the exact quantitative metric generated from the specimen for result sequence 1. The NM flag designates a numeric format, recording the measured observation (2339-0^Glucose^LN) with an exact value of 105 and units mg/dL evaluated against the normal reference interval (70-99), automatically raising an abnormal high alert flag (H for High) with verified final diagnostic status (F for Final).</a:t>
            </a:r>
            <a:endParaRPr lang="en-US" dirty="0">
              <a:solidFill>
                <a:srgbClr val="52645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545336"/>
            <a:ext cx="6035040" cy="1424857"/>
          </a:xfrm>
          <a:prstGeom prst="roundRect">
            <a:avLst>
              <a:gd name="adj" fmla="val 8898"/>
            </a:avLst>
          </a:prstGeom>
          <a:solidFill>
            <a:srgbClr val="131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050">
                <a:solidFill>
                  <a:srgbClr val="94BA33"/>
                </a:solidFill>
                <a:latin typeface="Courier New"/>
              </a:defRPr>
            </a:pPr>
            <a:r>
              <a:rPr dirty="0">
                <a:solidFill>
                  <a:schemeClr val="bg1"/>
                </a:solidFill>
              </a:rPr>
              <a:t>Real HL7 v2.5 ORU^R01 (Lab Result Transmission)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dirty="0"/>
              <a:t>MSH|^~\&amp;|LAB_ANALYZER|HOSP|EMR|HOSP|19890512103000||ORU^R01|MSG01|P|2.1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dirty="0"/>
              <a:t>PID|1||P0001^^^MRN||DOE^JANE||19800512|F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dirty="0"/>
              <a:t>OBR|1|ORD99||2339-0^Glucose^LN|||19890512100000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rPr lang="en-US" dirty="0"/>
              <a:t>OBX|1|NM|2339-0^Glucose^LN|1|105|mg/dL|70-99|H|||F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Technological Relativity: Why HL7 v2 in 1989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An engineering triumph for 1989 hardware that accumulated 30 years of Z-segment integration debt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600" b="1">
                <a:solidFill>
                  <a:srgbClr val="285C36"/>
                </a:solidFill>
              </a:defRPr>
            </a:pPr>
            <a:r>
              <a:t>The Context of 1989</a:t>
            </a:r>
          </a:p>
          <a:p>
            <a:pPr>
              <a:spcBef>
                <a:spcPts val="400"/>
              </a:spcBef>
              <a:defRPr sz="1100" b="1">
                <a:solidFill>
                  <a:srgbClr val="1B3E24"/>
                </a:solidFill>
              </a:defRPr>
            </a:pPr>
            <a:r>
              <a:t>Why Not JSON / REST?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Web didn't exist (HTTP came in 1991, JSON in 2001). Hardware was 1–4 MB RAM and 10 Mbps coax. Delimiter-separated ASCII allowed O(1) streaming directly into C buffers over raw TCP sockets without memory bloat.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600" b="1">
                <a:solidFill>
                  <a:srgbClr val="C0392B"/>
                </a:solidFill>
              </a:defRPr>
            </a:pPr>
            <a:r>
              <a:t>The 'Z-Segment' Trap</a:t>
            </a:r>
          </a:p>
          <a:p>
            <a:pPr>
              <a:spcBef>
                <a:spcPts val="400"/>
              </a:spcBef>
              <a:defRPr sz="1100" b="1">
                <a:solidFill>
                  <a:srgbClr val="1B3E24"/>
                </a:solidFill>
              </a:defRPr>
            </a:pPr>
            <a:r>
              <a:t>Non-Standard Custom Extensions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HL7 v2 was so loosely specified that vendors added proprietary custom segments (ZBE, ZPD, ZAL). A message from Hospital A could not be parsed by Hospital B without bespoke translation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600" b="1">
                <a:solidFill>
                  <a:srgbClr val="1B3E24"/>
                </a:solidFill>
              </a:defRPr>
            </a:pPr>
            <a:r>
              <a:t>The Modern Debt</a:t>
            </a:r>
          </a:p>
          <a:p>
            <a:pPr>
              <a:spcBef>
                <a:spcPts val="400"/>
              </a:spcBef>
              <a:defRPr sz="1100" b="1">
                <a:solidFill>
                  <a:srgbClr val="1B3E24"/>
                </a:solidFill>
              </a:defRPr>
            </a:pPr>
            <a:r>
              <a:t>Point-to-Point Socket Piping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HL7 v2 runs over MLLP (raw TCP sockets). There are no URLs, no HTTP status codes, no authentication standards, and no query capabilities. Required costly interface engines (Mirth, Cloverleaf).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rPr dirty="0"/>
              <a:t>2003: The Cautionary Tale of HL7 Version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The mathematically 'perfect' XML standard that software engineers completely rejected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90885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365760" rIns="365760" rtlCol="0" anchor="ctr"/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rPr dirty="0"/>
              <a:t>THE DANGERS OF OVER-ENGINEERING</a:t>
            </a:r>
          </a:p>
          <a:p>
            <a:pPr>
              <a:spcBef>
                <a:spcPts val="600"/>
              </a:spcBef>
              <a:defRPr sz="2000" b="1">
                <a:solidFill>
                  <a:srgbClr val="1B3E24"/>
                </a:solidFill>
              </a:defRPr>
            </a:pPr>
            <a:r>
              <a:rPr dirty="0"/>
              <a:t>How Abstract Modeling Alienated Real-World Developers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rPr dirty="0"/>
              <a:t>• The Reference Information Model (RIM): </a:t>
            </a:r>
            <a:r>
              <a:rPr b="0" dirty="0">
                <a:solidFill>
                  <a:srgbClr val="526458"/>
                </a:solidFill>
              </a:rPr>
              <a:t>HL7 attempted to create an all-encompassing, mathematically pure object-oriented model of all medicine. </a:t>
            </a:r>
            <a:r>
              <a:rPr b="0" u="sng" dirty="0">
                <a:solidFill>
                  <a:srgbClr val="526458"/>
                </a:solidFill>
              </a:rPr>
              <a:t>Everything was modeled as an Act, Entity, or Role</a:t>
            </a:r>
            <a:r>
              <a:rPr b="0" dirty="0">
                <a:solidFill>
                  <a:srgbClr val="526458"/>
                </a:solidFill>
              </a:rPr>
              <a:t>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rPr dirty="0"/>
              <a:t>• Massive XML Overhead: </a:t>
            </a:r>
            <a:r>
              <a:rPr b="0" dirty="0">
                <a:solidFill>
                  <a:srgbClr val="526458"/>
                </a:solidFill>
              </a:rPr>
              <a:t>A simple patient temperature reading required </a:t>
            </a:r>
            <a:r>
              <a:rPr b="0" u="sng" dirty="0">
                <a:solidFill>
                  <a:srgbClr val="526458"/>
                </a:solidFill>
              </a:rPr>
              <a:t>thousands of lines of deeply nested XML </a:t>
            </a:r>
            <a:r>
              <a:rPr b="0" dirty="0">
                <a:solidFill>
                  <a:srgbClr val="526458"/>
                </a:solidFill>
              </a:rPr>
              <a:t>tags, schemas, and abstract classes. Parsing was agonizingly slow on 2003 hardware.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rPr dirty="0"/>
              <a:t>• The Developer Rebellion: </a:t>
            </a:r>
            <a:r>
              <a:rPr b="0" u="sng" dirty="0">
                <a:solidFill>
                  <a:srgbClr val="526458"/>
                </a:solidFill>
              </a:rPr>
              <a:t>Software engineers refused to adopt it</a:t>
            </a:r>
            <a:r>
              <a:rPr b="0" dirty="0">
                <a:solidFill>
                  <a:srgbClr val="526458"/>
                </a:solidFill>
              </a:rPr>
              <a:t>. It was too difficult to learn and implement without multimillion-dollar consulting contracts. Hospitals stuck with HL7 v2, cementing v3 as a famous software failure.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rPr dirty="0"/>
              <a:t>• The Engineering Lesson: </a:t>
            </a:r>
            <a:r>
              <a:rPr b="0" dirty="0">
                <a:solidFill>
                  <a:srgbClr val="526458"/>
                </a:solidFill>
              </a:rPr>
              <a:t>In computing, pragmatic, developer-friendly designs always beat theoretically 'pure' but unusable standards.</a:t>
            </a:r>
            <a:endParaRPr lang="en-US" b="0" dirty="0">
              <a:solidFill>
                <a:srgbClr val="526458"/>
              </a:solidFill>
            </a:endParaRP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endParaRPr lang="en-TH" dirty="0">
              <a:solidFill>
                <a:srgbClr val="526458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EBFA43-30DB-9C6B-427B-7CA8D6B6F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478" y="1911096"/>
            <a:ext cx="4698116" cy="417820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47767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rPr dirty="0"/>
              <a:t>2014–Today: Enter HL7 FHIR (Built for the Web)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Grahame Grieve redesigns healthcare data around HTTP REST, JSON, and web standards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01597" y="1599534"/>
            <a:ext cx="3429000" cy="146631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500" b="1">
                <a:solidFill>
                  <a:srgbClr val="94BA33"/>
                </a:solidFill>
              </a:defRPr>
            </a:pPr>
            <a:r>
              <a:rPr dirty="0"/>
              <a:t>Web-Native Standards</a:t>
            </a:r>
          </a:p>
          <a:p>
            <a:pPr>
              <a:spcBef>
                <a:spcPts val="400"/>
              </a:spcBef>
              <a:defRPr sz="1200" b="1">
                <a:solidFill>
                  <a:srgbClr val="1B3E24"/>
                </a:solidFill>
              </a:defRPr>
            </a:pPr>
            <a:r>
              <a:rPr dirty="0"/>
              <a:t>HTTP, REST &amp; JSON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rPr dirty="0"/>
              <a:t>Built entirely on modern internet protocols. Developers query standard URLs (GET /Patient/P0001) and receive clean, human-readable JSON payloads.</a:t>
            </a:r>
            <a:endParaRPr lang="en-TH" dirty="0"/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01597" y="3216871"/>
            <a:ext cx="3429000" cy="154890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500" b="1">
                <a:solidFill>
                  <a:srgbClr val="94BA33"/>
                </a:solidFill>
              </a:defRPr>
            </a:pPr>
            <a:r>
              <a:rPr dirty="0"/>
              <a:t>The '80/20 Rule'</a:t>
            </a:r>
          </a:p>
          <a:p>
            <a:pPr>
              <a:spcBef>
                <a:spcPts val="400"/>
              </a:spcBef>
              <a:defRPr sz="1200" b="1">
                <a:solidFill>
                  <a:srgbClr val="1B3E24"/>
                </a:solidFill>
              </a:defRPr>
            </a:pPr>
            <a:r>
              <a:rPr dirty="0"/>
              <a:t>Pragmatic Scope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rPr dirty="0"/>
              <a:t>FHIR standardizes only the 80% of data concepts common across all healthcare globally. The remaining 20% edge cases are handled through explicitly validated Extensions.</a:t>
            </a:r>
            <a:endParaRPr lang="en-US" dirty="0"/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701597" y="4916807"/>
            <a:ext cx="3429000" cy="146631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500" b="1">
                <a:solidFill>
                  <a:srgbClr val="94BA33"/>
                </a:solidFill>
              </a:defRPr>
            </a:pPr>
            <a:r>
              <a:rPr dirty="0"/>
              <a:t>Normative Stability</a:t>
            </a:r>
          </a:p>
          <a:p>
            <a:pPr>
              <a:spcBef>
                <a:spcPts val="400"/>
              </a:spcBef>
              <a:defRPr sz="1200" b="1">
                <a:solidFill>
                  <a:srgbClr val="1B3E24"/>
                </a:solidFill>
              </a:defRPr>
            </a:pPr>
            <a:r>
              <a:rPr dirty="0"/>
              <a:t>FHIR R4 (2019)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rPr dirty="0"/>
              <a:t>In 2019, FHIR Release 4 achieved Normative status. Core resources (Patient, Observation, Condition) are frozen with guaranteed permanent backwards compatibility.</a:t>
            </a:r>
            <a:endParaRPr lang="en-US" dirty="0"/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endParaRPr lang="en-TH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17034C-E7B4-9053-5059-C65CE3AACB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020"/>
          <a:stretch>
            <a:fillRect/>
          </a:stretch>
        </p:blipFill>
        <p:spPr>
          <a:xfrm>
            <a:off x="4282201" y="1599534"/>
            <a:ext cx="4834203" cy="383909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6C0300-645C-5637-C417-FF492BCC00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110"/>
          <a:stretch>
            <a:fillRect/>
          </a:stretch>
        </p:blipFill>
        <p:spPr>
          <a:xfrm>
            <a:off x="7275538" y="3671247"/>
            <a:ext cx="4834203" cy="300999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rPr dirty="0"/>
              <a:t>Core FHIR Architecture: Resources, References &amp;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Modular clinical building blocks interconnected by unambiguous logical references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400" b="1">
                <a:solidFill>
                  <a:srgbClr val="1B3E24"/>
                </a:solidFill>
              </a:defRPr>
            </a:pPr>
            <a:r>
              <a:t>Patient Resource</a:t>
            </a:r>
          </a:p>
          <a:p>
            <a:pPr>
              <a:spcBef>
                <a:spcPts val="200"/>
              </a:spcBef>
              <a:defRPr sz="1100" b="1">
                <a:solidFill>
                  <a:srgbClr val="1B3E24"/>
                </a:solidFill>
              </a:defRPr>
            </a:pPr>
            <a:r>
              <a:t>Demographics &amp; Master ID</a:t>
            </a:r>
          </a:p>
          <a:p>
            <a:pPr>
              <a:spcBef>
                <a:spcPts val="600"/>
              </a:spcBef>
              <a:defRPr sz="1000">
                <a:solidFill>
                  <a:srgbClr val="142118"/>
                </a:solidFill>
              </a:defRPr>
            </a:pPr>
            <a:r>
              <a:t>The root subject. Contains biological sex, birthdate, identifier MRN, and contact info. Every clinical observation links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400" b="1">
                <a:solidFill>
                  <a:srgbClr val="285C36"/>
                </a:solidFill>
              </a:defRPr>
            </a:pPr>
            <a:r>
              <a:t>Observation Resource</a:t>
            </a:r>
          </a:p>
          <a:p>
            <a:pPr>
              <a:spcBef>
                <a:spcPts val="200"/>
              </a:spcBef>
              <a:defRPr sz="1100" b="1">
                <a:solidFill>
                  <a:srgbClr val="1B3E24"/>
                </a:solidFill>
              </a:defRPr>
            </a:pPr>
            <a:r>
              <a:t>Measurements &amp; Vitals</a:t>
            </a:r>
          </a:p>
          <a:p>
            <a:pPr>
              <a:spcBef>
                <a:spcPts val="600"/>
              </a:spcBef>
              <a:defRPr sz="1000">
                <a:solidFill>
                  <a:srgbClr val="142118"/>
                </a:solidFill>
              </a:defRPr>
            </a:pPr>
            <a:r>
              <a:t>Clinical measurements: lab tests, vital signs, biopsy metrics. Contains coded LOINC tag, timestamp, and numeric value with UCUM units.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400" b="1">
                <a:solidFill>
                  <a:srgbClr val="94BA33"/>
                </a:solidFill>
              </a:defRPr>
            </a:pPr>
            <a:r>
              <a:t>Condition Resource</a:t>
            </a:r>
          </a:p>
          <a:p>
            <a:pPr>
              <a:spcBef>
                <a:spcPts val="200"/>
              </a:spcBef>
              <a:defRPr sz="1100" b="1">
                <a:solidFill>
                  <a:srgbClr val="1B3E24"/>
                </a:solidFill>
              </a:defRPr>
            </a:pPr>
            <a:r>
              <a:t>Clinical Diagnoses</a:t>
            </a:r>
          </a:p>
          <a:p>
            <a:pPr>
              <a:spcBef>
                <a:spcPts val="600"/>
              </a:spcBef>
              <a:defRPr sz="1000">
                <a:solidFill>
                  <a:srgbClr val="142118"/>
                </a:solidFill>
              </a:defRPr>
            </a:pPr>
            <a:r>
              <a:t>Active health problems or diagnoses. Links to Patient and contains ICD-10 or SNOMED CT problem codes with clinical status (active/resolved).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06908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Bundle Resource</a:t>
            </a:r>
          </a:p>
          <a:p>
            <a:pPr>
              <a:spcBef>
                <a:spcPts val="200"/>
              </a:spcBef>
              <a:defRPr sz="1100" b="1">
                <a:solidFill>
                  <a:srgbClr val="1B3E24"/>
                </a:solidFill>
              </a:defRPr>
            </a:pPr>
            <a:r>
              <a:t>Packaging Patient Records</a:t>
            </a:r>
          </a:p>
          <a:p>
            <a:pPr>
              <a:spcBef>
                <a:spcPts val="600"/>
              </a:spcBef>
              <a:defRPr sz="1000">
                <a:solidFill>
                  <a:srgbClr val="142118"/>
                </a:solidFill>
              </a:defRPr>
            </a:pPr>
            <a:r>
              <a:t>A container resource holding multiple items. In this afternoon's lab, data/fhir/P0001.json is a Bundle packing 1 Patient, 10 Observations, and 1 Condition.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Coded Vocabularies: The Semantic Glue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FHIR provides the grammatical schema; medical terminologies provide the dictionary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800" b="1">
                <a:solidFill>
                  <a:srgbClr val="285C36"/>
                </a:solidFill>
              </a:defRPr>
            </a:pPr>
            <a:r>
              <a:t>LOINC</a:t>
            </a:r>
          </a:p>
          <a:p>
            <a:pPr>
              <a:spcBef>
                <a:spcPts val="400"/>
              </a:spcBef>
              <a:defRPr sz="1100" b="1">
                <a:solidFill>
                  <a:srgbClr val="1B3E24"/>
                </a:solidFill>
              </a:defRPr>
            </a:pPr>
            <a:r>
              <a:t>Logical Observation Identifiers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universal dictionary for lab assays and measurements.</a:t>
            </a:r>
            <a:br/>
            <a:br/>
            <a:r>
              <a:t>• Code 2339-0: Blood Glucose</a:t>
            </a:r>
            <a:br/>
            <a:r>
              <a:t>• Code 21908-9: Mean Cell Radius</a:t>
            </a:r>
            <a:br/>
            <a:br/>
            <a:r>
              <a:t>Becomes column headers in ML feature matrices.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800" b="1">
                <a:solidFill>
                  <a:srgbClr val="1B3E24"/>
                </a:solidFill>
              </a:defRPr>
            </a:pPr>
            <a:r>
              <a:t>SNOMED CT</a:t>
            </a:r>
          </a:p>
          <a:p>
            <a:pPr>
              <a:spcBef>
                <a:spcPts val="400"/>
              </a:spcBef>
              <a:defRPr sz="1100" b="1">
                <a:solidFill>
                  <a:srgbClr val="1B3E24"/>
                </a:solidFill>
              </a:defRPr>
            </a:pPr>
            <a:r>
              <a:t>Systematized Nomenclature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global clinical terminology for findings, body sites, and procedures.</a:t>
            </a:r>
            <a:br/>
            <a:br/>
            <a:r>
              <a:t>• Code 439401001: Raman spectroscopy</a:t>
            </a:r>
            <a:br/>
            <a:r>
              <a:t>• Code 44054006: Ductal carcinoma</a:t>
            </a:r>
            <a:br/>
            <a:br/>
            <a:r>
              <a:t>Defines precise anatomical and procedural meaning.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800" b="1">
                <a:solidFill>
                  <a:srgbClr val="94BA33"/>
                </a:solidFill>
              </a:defRPr>
            </a:pPr>
            <a:r>
              <a:t>ICD-10 / ICD-11</a:t>
            </a:r>
          </a:p>
          <a:p>
            <a:pPr>
              <a:spcBef>
                <a:spcPts val="400"/>
              </a:spcBef>
              <a:defRPr sz="1100" b="1">
                <a:solidFill>
                  <a:srgbClr val="1B3E24"/>
                </a:solidFill>
              </a:defRPr>
            </a:pPr>
            <a:r>
              <a:t>Disease Classification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World Health Organization standard for diagnoses and epidemiology.</a:t>
            </a:r>
            <a:br/>
            <a:br/>
            <a:r>
              <a:t>• Code C50.9: Malignant breast tumor</a:t>
            </a:r>
            <a:br/>
            <a:r>
              <a:t>• Code E11.9: Type 2 diabetes</a:t>
            </a:r>
            <a:br/>
            <a:br/>
            <a:r>
              <a:t>Used globally for insurance claims and disease surveillance.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1 · HISTORY OF HOSPITAL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Global Adoption: From Federal Law to Thailand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Where FHIR is legally mandated, and the reality of legacy hospital engines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t>MANDATED BY LAW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United States &amp; Europe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US 21st Century Cures Act:</a:t>
            </a:r>
            <a:br/>
            <a:r>
              <a:rPr b="0">
                <a:solidFill>
                  <a:srgbClr val="526458"/>
                </a:solidFill>
              </a:rPr>
              <a:t>Made clinical 'data blocking' illegal. Certified hospital software MUST expose standardized FHIR APIs (SMART on FHIR). Apple Health connects directly to thousands of US clinics via FHIR.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European Health Data Space (EHDS):</a:t>
            </a:r>
            <a:br/>
            <a:r>
              <a:rPr b="0">
                <a:solidFill>
                  <a:srgbClr val="526458"/>
                </a:solidFill>
              </a:rPr>
              <a:t>Mandates cross-border clinical record exchange across all EU member states using FHIR.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LOCAL &amp; REGIONAL REALITY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Thailand &amp; Legacy Systems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Thailand MOPH Initiatives:</a:t>
            </a:r>
            <a:br/>
            <a:r>
              <a:rPr b="0">
                <a:solidFill>
                  <a:srgbClr val="526458"/>
                </a:solidFill>
              </a:rPr>
              <a:t>The Ministry of Public Health and Thai health-tech agencies are actively implementing FHIR-based Health Information Exchanges (HIE) for national universal coverage digital claims.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The Hybrid Reality:</a:t>
            </a:r>
            <a:br/>
            <a:r>
              <a:rPr b="0">
                <a:solidFill>
                  <a:srgbClr val="526458"/>
                </a:solidFill>
              </a:rPr>
              <a:t>Replacing hospital databases costs millions. Many provincial hospitals still run HL7 v2 and MySQL engines; FHIR is deployed as an API Gateway wrapper sitting on top.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5486400" cy="41148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PHASE 2 · CLINICAL DATA MODALITIES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The Four Modalities of Health AI</a:t>
            </a:r>
          </a:p>
          <a:p>
            <a:pPr>
              <a:spcBef>
                <a:spcPts val="1200"/>
              </a:spcBef>
              <a:defRPr sz="1700">
                <a:solidFill>
                  <a:srgbClr val="94BA33"/>
                </a:solidFill>
              </a:defRPr>
            </a:pPr>
            <a:r>
              <a:t>From 2D Tabular Feature Matrices to Spatial Tensors, Signal Telemetry, and LLM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572000"/>
            <a:ext cx="10515600" cy="146304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tlCol="0" anchor="ctr"/>
          <a:lstStyle/>
          <a:p>
            <a:pPr algn="ctr">
              <a:defRPr sz="1300" b="1">
                <a:solidFill>
                  <a:srgbClr val="94BA33"/>
                </a:solidFill>
              </a:defRPr>
            </a:pPr>
            <a:r>
              <a:t>Different Math, Different Algorithms:</a:t>
            </a:r>
          </a:p>
          <a:p>
            <a:pPr>
              <a:spcBef>
                <a:spcPts val="400"/>
              </a:spcBef>
              <a:defRPr sz="1350" b="1">
                <a:solidFill>
                  <a:srgbClr val="FFFFFF"/>
                </a:solidFill>
              </a:defRPr>
            </a:pPr>
            <a:r>
              <a:t>There is no single 'Health AI algorithm.' Tabular data requires gradient trees; radiology requires 3D convolution; telemetry requires temporal state spaces; notes require LLMs.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MODALITY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Tabular Data: The Classical Machine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Structured numeric matrices powering clinical risk stratification and lab assays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t>DATA REPRESENTATION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2D Matrices: X in R^{N x D}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Clinical Sources: </a:t>
            </a:r>
            <a:r>
              <a:rPr b="0">
                <a:solidFill>
                  <a:srgbClr val="526458"/>
                </a:solidFill>
              </a:rPr>
              <a:t>Automated lab panels (glucose, creatinine), vital signs, cell morphometry from biopsies, and patient demographics.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Mathematical Structure: </a:t>
            </a:r>
            <a:r>
              <a:rPr b="0">
                <a:solidFill>
                  <a:srgbClr val="526458"/>
                </a:solidFill>
              </a:rPr>
              <a:t>A rectangular table of N patients (rows) by D features (columns). Targets y in {0, 1}.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Strict Requirements: </a:t>
            </a:r>
            <a:r>
              <a:rPr b="0">
                <a:solidFill>
                  <a:srgbClr val="526458"/>
                </a:solidFill>
              </a:rPr>
              <a:t>Every cell must be a valid float. Algorithms cannot handle raw nested JSON or string codes without preprocessing.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ALGORITHMS &amp; WORKSHOP LINK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Afternoon Workshop Focus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Core Models: </a:t>
            </a:r>
            <a:r>
              <a:rPr b="0">
                <a:solidFill>
                  <a:srgbClr val="526458"/>
                </a:solidFill>
              </a:rPr>
              <a:t>Logistic Regression, Random Forests, XGBoost, and k-Means Clustering.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Step 1 (Flatten FHIR): </a:t>
            </a:r>
            <a:r>
              <a:rPr b="0">
                <a:solidFill>
                  <a:srgbClr val="526458"/>
                </a:solidFill>
              </a:rPr>
              <a:t>In scripts/01_fhir_to_table.py, we parse real FHIR bundles and extract LOINC observations into tabular columns.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Step 3 (Train Pipelines): </a:t>
            </a:r>
            <a:r>
              <a:rPr b="0">
                <a:solidFill>
                  <a:srgbClr val="526458"/>
                </a:solidFill>
              </a:rPr>
              <a:t>We fit Logistic Regression and Random Forest models to predict malignancy from 30 cell nucleus features.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MODALITY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Spatial &amp; Imaging Data: Computer Vision in Medicine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Radiographs, 3D CT/MRI scans, and gigapixel histology whole-slide images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365760" rIns="36576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t>HIGH-DIMENSIONAL SPATIAL TENSORS</a:t>
            </a:r>
          </a:p>
          <a:p>
            <a:pPr>
              <a:spcBef>
                <a:spcPts val="600"/>
              </a:spcBef>
              <a:defRPr sz="2000" b="1">
                <a:solidFill>
                  <a:srgbClr val="1B3E24"/>
                </a:solidFill>
              </a:defRPr>
            </a:pPr>
            <a:r>
              <a:t>From 2D X-Rays to 3D/4D Volumetric Tensors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t>• The DICOM Standard: </a:t>
            </a:r>
            <a:r>
              <a:rPr b="0">
                <a:solidFill>
                  <a:srgbClr val="526458"/>
                </a:solidFill>
              </a:rPr>
              <a:t>Medical images are not simple JPEGs. They are DICOM files storing calibrated pixel arrays alongside spatial metadata (slice thickness, magnetic field strength, patient positioning).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t>• Mathematical Format: </a:t>
            </a:r>
            <a:r>
              <a:rPr b="0">
                <a:solidFill>
                  <a:srgbClr val="526458"/>
                </a:solidFill>
              </a:rPr>
              <a:t>Tensors in R^{C x D x H x W} where C = Channels/Sequences, D = Depth/Slices, H, W = Image dimensions. Whole Slide Images (WSI) reach 100,000 x 100,000 pixels.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t>• AI Architectures: </a:t>
            </a:r>
            <a:r>
              <a:rPr b="0">
                <a:solidFill>
                  <a:srgbClr val="526458"/>
                </a:solidFill>
              </a:rPr>
              <a:t>Convolutional Neural Networks (ResNet, EfficientNet), Vision Transformers (ViT), and U-Net encoder-decoder models for anatomical tumor segmentation.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t>• Clinical Challenge: </a:t>
            </a:r>
            <a:r>
              <a:rPr b="0">
                <a:solidFill>
                  <a:srgbClr val="526458"/>
                </a:solidFill>
              </a:rPr>
              <a:t>Multi-gigabyte file sizes, spatial resolution vs compute memory trade-offs, and requirement for expert radiologist pixel-level annotations.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MODALITY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Time-Series &amp; Telemetry: Continuous Physiological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High-frequency sensor waveforms from ICU monitors, ECG leads, and wearable devices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365760" rIns="36576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SEQUENTIAL TEMPORAL SIGNALS</a:t>
            </a:r>
          </a:p>
          <a:p>
            <a:pPr>
              <a:spcBef>
                <a:spcPts val="600"/>
              </a:spcBef>
              <a:defRPr sz="2000" b="1">
                <a:solidFill>
                  <a:srgbClr val="1B3E24"/>
                </a:solidFill>
              </a:defRPr>
            </a:pPr>
            <a:r>
              <a:t>Streaming Signals at 250 Hz to 1 Sample/Hour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t>• Clinical Telemetry Streams: </a:t>
            </a:r>
            <a:r>
              <a:rPr b="0">
                <a:solidFill>
                  <a:srgbClr val="526458"/>
                </a:solidFill>
              </a:rPr>
              <a:t>12-lead Electrocardiography (ECG), continuous arterial blood pressure in ICUs, pulse oximetry (PPG), and Continuous Glucose Monitors (CGM).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t>• Mathematical Representation: </a:t>
            </a:r>
            <a:r>
              <a:rPr b="0">
                <a:solidFill>
                  <a:srgbClr val="526458"/>
                </a:solidFill>
              </a:rPr>
              <a:t>1D sequential arrays x(t) sampled at high frequency. Processed via sliding windows, Fast Fourier Transforms (FFT), or Continuous Wavelet Transforms.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t>• Algorithms: </a:t>
            </a:r>
            <a:r>
              <a:rPr b="0">
                <a:solidFill>
                  <a:srgbClr val="526458"/>
                </a:solidFill>
              </a:rPr>
              <a:t>Recurrent Neural Networks (LSTMs), 1D Temporal Convolutional Networks (TCN), and modern State Space Models (Mamba) for predicting acute sepsis 6 hours in advance.</a:t>
            </a:r>
          </a:p>
          <a:p>
            <a:pPr>
              <a:spcBef>
                <a:spcPts val="1000"/>
              </a:spcBef>
              <a:defRPr sz="1150" b="1">
                <a:solidFill>
                  <a:srgbClr val="142118"/>
                </a:solidFill>
              </a:defRPr>
            </a:pPr>
            <a:r>
              <a:t>• Engineering Reality: </a:t>
            </a:r>
            <a:r>
              <a:rPr b="0">
                <a:solidFill>
                  <a:srgbClr val="526458"/>
                </a:solidFill>
              </a:rPr>
              <a:t>Sensor motion artifacts, loose electrodes, and non-stationary baseline drift require heavy digital signal processing before ML.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MODALITY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Unstructured Text: What 90% of People Mean by 'AI'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Physician progress notes, discharge summaries, operative logs, and clinical LLMs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t>THE UNSTRUCTURED MAJORITY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80% of Health Data Lives in Text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Clinical Narratives: </a:t>
            </a:r>
            <a:r>
              <a:rPr b="0">
                <a:solidFill>
                  <a:srgbClr val="526458"/>
                </a:solidFill>
              </a:rPr>
              <a:t>Doctors do not fill out structured dropdown forms; they write narrative stories explaining clinical reasoning, nuance, and history.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Complex Medical Jargon: </a:t>
            </a:r>
            <a:r>
              <a:rPr b="0">
                <a:solidFill>
                  <a:srgbClr val="526458"/>
                </a:solidFill>
              </a:rPr>
              <a:t>Heavy abbreviations ('sob' = shortness of breath, not an insult!), medical shorthand, and typos make rule-based parsers fail.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Rich Hidden Signal: </a:t>
            </a:r>
            <a:r>
              <a:rPr b="0">
                <a:solidFill>
                  <a:srgbClr val="526458"/>
                </a:solidFill>
              </a:rPr>
              <a:t>Social determinants of health (living alone, smoking history) are only documented in free-text clinical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THE GENAI PARADIGM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Clinical LLMs &amp; Copilots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Medical Foundation Models: </a:t>
            </a:r>
            <a:r>
              <a:rPr b="0">
                <a:solidFill>
                  <a:srgbClr val="526458"/>
                </a:solidFill>
              </a:rPr>
              <a:t>Specialized models (Med-PaLM 2, BioGPT, ClinicalBERT) trained on medical literature and clinical corpora.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Ambient Clinical Scribing: </a:t>
            </a:r>
            <a:r>
              <a:rPr b="0">
                <a:solidFill>
                  <a:srgbClr val="526458"/>
                </a:solidFill>
              </a:rPr>
              <a:t>Microphones listen to doctor-patient conversation in real time and automatically draft the clinical note into the EHR.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Clinical Question Answering: </a:t>
            </a:r>
            <a:r>
              <a:rPr b="0">
                <a:solidFill>
                  <a:srgbClr val="526458"/>
                </a:solidFill>
              </a:rPr>
              <a:t>Synthesizing complex multi-year patient records into concise diagnostic briefings for busy clinicians.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LLMS &amp;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Formatting Dilemma: Why LLMs Choke on Raw FHIR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Nested JSON metadata dilutes clinical signal; Markdown tables provide the cure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THE RAW JSON TRAP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Token Bloat &amp; Hallucination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Severe Token Overhead: </a:t>
            </a:r>
            <a:r>
              <a:rPr b="0">
                <a:solidFill>
                  <a:srgbClr val="526458"/>
                </a:solidFill>
              </a:rPr>
              <a:t>A single FHIR Observation consumes 300–500 tokens of nested boilerplate (resourceType, meta, system, coding). A patient chart burns 50,000+ tokens!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Diluted Clinical Signal: </a:t>
            </a:r>
            <a:r>
              <a:rPr b="0">
                <a:solidFill>
                  <a:srgbClr val="526458"/>
                </a:solidFill>
              </a:rPr>
              <a:t>The critical clinical number ('Glucose: 118') is buried inside hundreds of curly braces, degrading LLM attention.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Hallucination Risk: </a:t>
            </a:r>
            <a:r>
              <a:rPr b="0">
                <a:solidFill>
                  <a:srgbClr val="526458"/>
                </a:solidFill>
              </a:rPr>
              <a:t>High token boilerplate increases the probability that an LLM misassociates a test value with the wrong timestamp.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THE MODERN SOLUTION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Clean Markdown (.md) Tables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60–75% Token Reduction: </a:t>
            </a:r>
            <a:r>
              <a:rPr b="0">
                <a:solidFill>
                  <a:srgbClr val="526458"/>
                </a:solidFill>
              </a:rPr>
              <a:t>Converting FHIR resources into clean Markdown tables preserves semantic clarity while stripping thousands of redundant JSON lines.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Superior LLM Recall: </a:t>
            </a:r>
            <a:r>
              <a:rPr b="0">
                <a:solidFill>
                  <a:srgbClr val="526458"/>
                </a:solidFill>
              </a:rPr>
              <a:t>Foundation models are pre-trained heavily on Markdown tables and bulleted text, leading to faster inference and zero syntactic hallucinations.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Clean Architecture: </a:t>
            </a:r>
            <a:r>
              <a:rPr b="0">
                <a:solidFill>
                  <a:srgbClr val="526458"/>
                </a:solidFill>
              </a:rPr>
              <a:t>FHIR remains the backend database protocol; Markdown is the token-efficient presentation layer for LLM prompts.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Clinical AI Agents: RAG &amp; Model Context Protocol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Moving from passive chatbots to autonomous clinical copilots with deterministic tools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t>KNOWLEDGE RETRIEVAL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Clinical RAG &amp; Vector DBs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Semantic Embeddings: </a:t>
            </a:r>
            <a:r>
              <a:rPr b="0">
                <a:solidFill>
                  <a:srgbClr val="526458"/>
                </a:solidFill>
              </a:rPr>
              <a:t>Clinical narrative notes and medical guidelines are chunked and converted into vector embeddings via clinical embedding models.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Vector Databases: </a:t>
            </a:r>
            <a:r>
              <a:rPr b="0">
                <a:solidFill>
                  <a:srgbClr val="526458"/>
                </a:solidFill>
              </a:rPr>
              <a:t>Stored in high-speed vector stores (pgvector, Chroma, Pinecone) for sub-millisecond similarity search.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Grounded Answers: </a:t>
            </a:r>
            <a:r>
              <a:rPr b="0">
                <a:solidFill>
                  <a:srgbClr val="526458"/>
                </a:solidFill>
              </a:rPr>
              <a:t>When an agent answers a question, it retrieves the top-3 most relevant patient notes and clinical trial guidelines to prevent hallucinations.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DETERMINISTIC ACTION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Model Context Protocol (MCP)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Tool-Calling Paradigm: </a:t>
            </a:r>
            <a:r>
              <a:rPr b="0">
                <a:solidFill>
                  <a:srgbClr val="526458"/>
                </a:solidFill>
              </a:rPr>
              <a:t>Agents do not guess; they invoke structured tools: get_patient_labs(patient_id='P0001', code='2339-0').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Scoped &amp; Auditable: </a:t>
            </a:r>
            <a:r>
              <a:rPr b="0">
                <a:solidFill>
                  <a:srgbClr val="526458"/>
                </a:solidFill>
              </a:rPr>
              <a:t>Every action an agent takes is logged, authenticated, and constrained by role-based access control.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The Future Standard: </a:t>
            </a:r>
            <a:r>
              <a:rPr b="0">
                <a:solidFill>
                  <a:srgbClr val="526458"/>
                </a:solidFill>
              </a:rPr>
              <a:t>MCP provides the open protocol for connecting AI agents to hospital databases and diagnostic instruments safely.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DATA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Fundamental Data Impedance Mismatch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machine learning frameworks cannot directly ingest clinical FHIR standards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t>HOW HOSPITALS STORE DATA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Hierarchical Clinical Events (FHIR)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Data Structure:</a:t>
            </a:r>
            <a:br/>
            <a:r>
              <a:rPr b="0">
                <a:solidFill>
                  <a:srgbClr val="526458"/>
                </a:solidFill>
              </a:rPr>
              <a:t>Deeply nested JSON resource trees linked by logical URIs and references.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Temporal Characteristics:</a:t>
            </a:r>
            <a:br/>
            <a:r>
              <a:rPr b="0">
                <a:solidFill>
                  <a:srgbClr val="526458"/>
                </a:solidFill>
              </a:rPr>
              <a:t>Variable-length event histories over months or years. Irregular sampling intervals.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Heterogeneity:</a:t>
            </a:r>
            <a:br/>
            <a:r>
              <a:rPr b="0">
                <a:solidFill>
                  <a:srgbClr val="526458"/>
                </a:solidFill>
              </a:rPr>
              <a:t>Mix of coded observations, narrative clinical notes, and multi-value panels.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WHAT MACHINE LEARNING REQUIRES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2D Numerical Feature Matrices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Data Structure:</a:t>
            </a:r>
            <a:br/>
            <a:r>
              <a:rPr b="0">
                <a:solidFill>
                  <a:srgbClr val="526458"/>
                </a:solidFill>
              </a:rPr>
              <a:t>Rigid 2D arrays: Feature matrix X in R^{N x D} and target label vector y in {0, 1}.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Strict Demands:</a:t>
            </a:r>
            <a:br/>
            <a:r>
              <a:rPr b="0">
                <a:solidFill>
                  <a:srgbClr val="526458"/>
                </a:solidFill>
              </a:rPr>
              <a:t>Every patient must have exactly D columns. Algorithms like Logistic Regression cannot handle raw JSON.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The Workshop Core:</a:t>
            </a:r>
            <a:br/>
            <a:r>
              <a:rPr b="0">
                <a:solidFill>
                  <a:srgbClr val="526458"/>
                </a:solidFill>
              </a:rPr>
              <a:t>Step 1 this afternoon (scripts/01_fhir_to_table.py) is the bridge that turns hierarchical FHIR into flat tabular features!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DATA REALITIES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Clinical Realities: Informative Missingness &amp;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Healthcare data is not sampled at random; absence of evidence is clinical information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DATA QUALITY REALITY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Informative Missingness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Tests Ordered for Sick Patients:</a:t>
            </a:r>
            <a:br/>
            <a:r>
              <a:rPr b="0">
                <a:solidFill>
                  <a:srgbClr val="526458"/>
                </a:solidFill>
              </a:rPr>
              <a:t>In sensors, missing data is hardware loss. In medicine, a troponin test or biopsy is ordered because disease is suspected! Healthy patients lack tests because they are healthy.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The Imputation Trap:</a:t>
            </a:r>
            <a:br/>
            <a:r>
              <a:rPr b="0">
                <a:solidFill>
                  <a:srgbClr val="526458"/>
                </a:solidFill>
              </a:rPr>
              <a:t>Imputing missing values with population mean assigns sick values to healthy people. Must be handled deliberately via SimpleImputer inside cross-validation folds.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EVALUATION PITFALL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Class Imbalance (63% Trap)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The Baseline Illusion:</a:t>
            </a:r>
            <a:br/>
            <a:r>
              <a:rPr b="0">
                <a:solidFill>
                  <a:srgbClr val="526458"/>
                </a:solidFill>
              </a:rPr>
              <a:t>In cancer screening, 63% (or 95%) of patients are benign. A dummy model predicting 'benign' every time achieves 63% accuracy while failing 100% of cancer cases!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Metric Requirements:</a:t>
            </a:r>
            <a:br/>
            <a:r>
              <a:rPr b="0">
                <a:solidFill>
                  <a:srgbClr val="526458"/>
                </a:solidFill>
              </a:rPr>
              <a:t>Accuracy is dangerous. We evaluate models using Recall (Sensitivity), ROC-AUC, and tune the classification threshold deliberately.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PHASE 2 · FUTURE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Towards AI-Native Health Data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The emerging Dual-Stack Architecture uniting legal compliance and continuous learning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285C36"/>
                </a:solidFill>
              </a:defRPr>
            </a:pPr>
            <a:r>
              <a:t>THE THREE ERAS OF HEALTH DATA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From Sockets to Autonomous AI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Era 1: 1989–2011 (Local Machines):</a:t>
            </a:r>
            <a:br/>
            <a:r>
              <a:rPr b="0">
                <a:solidFill>
                  <a:srgbClr val="526458"/>
                </a:solidFill>
              </a:rPr>
              <a:t>HL7 v2: Pipe-delimited ASCII strings over TCP sockets for local hospital LANs.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Era 2: 2014–2025 (Web &amp; Mobile):</a:t>
            </a:r>
            <a:br/>
            <a:r>
              <a:rPr b="0">
                <a:solidFill>
                  <a:srgbClr val="526458"/>
                </a:solidFill>
              </a:rPr>
              <a:t>HL7 FHIR: JSON REST APIs and web standards for apps, clinicians, and portals.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Era 3: 2026+ (Artificial Intelligence):</a:t>
            </a:r>
            <a:br/>
            <a:r>
              <a:rPr b="0">
                <a:solidFill>
                  <a:srgbClr val="526458"/>
                </a:solidFill>
              </a:rPr>
              <a:t>AI-Native Stack: Vector embeddings, token-optimized Markdown, and Agentic MCP tool protocols.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320040" rIns="320040" rtlCol="0" anchor="ctr"/>
          <a:lstStyle/>
          <a:p>
            <a:pPr algn="ctr">
              <a:defRPr sz="1100" b="1">
                <a:solidFill>
                  <a:srgbClr val="94BA33"/>
                </a:solidFill>
              </a:defRPr>
            </a:pPr>
            <a:r>
              <a:t>THE DUAL-STACK SOLUTION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</a:defRPr>
            </a:pPr>
            <a:r>
              <a:t>Record Layer + Intelligence Layer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Layer A · System of Record (FHIR):</a:t>
            </a:r>
            <a:br/>
            <a:r>
              <a:rPr b="0">
                <a:solidFill>
                  <a:srgbClr val="526458"/>
                </a:solidFill>
              </a:rPr>
              <a:t>FHIR remains the authoritative, legally audited, and human-verified patient ledger for billing, medication safety, and clinical charts.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Layer B · System of Intelligence (AI Store):</a:t>
            </a:r>
            <a:br/>
            <a:r>
              <a:rPr b="0">
                <a:solidFill>
                  <a:srgbClr val="526458"/>
                </a:solidFill>
              </a:rPr>
              <a:t>High-performance vector stores and feature stores (e.g. Feast, pgvector) continuously ingest FHIR streams, serving ML models and LLM agents in milliseconds.</a:t>
            </a:r>
          </a:p>
          <a:p>
            <a:pPr>
              <a:spcBef>
                <a:spcPts val="1000"/>
              </a:spcBef>
              <a:defRPr sz="1100" b="1">
                <a:solidFill>
                  <a:srgbClr val="142118"/>
                </a:solidFill>
              </a:defRPr>
            </a:pPr>
            <a:r>
              <a:t>• Health MCP Protocol Standard:</a:t>
            </a:r>
            <a:br/>
            <a:r>
              <a:rPr b="0">
                <a:solidFill>
                  <a:srgbClr val="526458"/>
                </a:solidFill>
              </a:rPr>
              <a:t>Standardizing tool schemas so any clinical AI agent can query and propose treatment orders across any hospital safely.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BRIDGE TO AFTERNOON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Closing the Classical Loop &amp; Tech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Verify your environment now so the room is 100% ready to run code at 14:00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4BA33"/>
                </a:solidFill>
              </a:defRPr>
            </a:pPr>
            <a:r>
              <a:t>CLOSING THE LOOP</a:t>
            </a:r>
          </a:p>
          <a:p>
            <a:pPr>
              <a:spcBef>
                <a:spcPts val="400"/>
              </a:spcBef>
              <a:defRPr sz="1500" b="1">
                <a:solidFill>
                  <a:srgbClr val="1B3E24"/>
                </a:solidFill>
              </a:defRPr>
            </a:pPr>
            <a:r>
              <a:t>Predictions Back as FHIR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In Step 5c of this afternoon's workshop, clicking 'Send to record' wraps our scikit-learn cancer risk prediction back into a valid FHIR RiskAssessment and Observation resource.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4BA33"/>
                </a:solidFill>
              </a:defRPr>
            </a:pPr>
            <a:r>
              <a:t>TERMINAL CHECK</a:t>
            </a:r>
          </a:p>
          <a:p>
            <a:pPr>
              <a:spcBef>
                <a:spcPts val="400"/>
              </a:spcBef>
              <a:defRPr sz="1500" b="1">
                <a:solidFill>
                  <a:srgbClr val="1B3E24"/>
                </a:solidFill>
              </a:defRPr>
            </a:pPr>
            <a:r>
              <a:t>Navigate to Repo Root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Open your terminal application and verify your current working directory:</a:t>
            </a:r>
            <a:br/>
            <a:br/>
            <a:r>
              <a:t>$ cd fhir-ml-workshop</a:t>
            </a:r>
            <a:br/>
            <a:br/>
            <a:r>
              <a:t>Ensure git branch is clean.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Ins="274320" rtlCol="0" anchor="ctr"/>
          <a:lstStyle/>
          <a:p>
            <a:pPr algn="ctr">
              <a:defRPr sz="1300" b="1">
                <a:solidFill>
                  <a:srgbClr val="94BA33"/>
                </a:solidFill>
              </a:defRPr>
            </a:pPr>
            <a:r>
              <a:t>SYNC ENVIRONMENT</a:t>
            </a:r>
          </a:p>
          <a:p>
            <a:pPr>
              <a:spcBef>
                <a:spcPts val="400"/>
              </a:spcBef>
              <a:defRPr sz="1500" b="1">
                <a:solidFill>
                  <a:srgbClr val="1B3E24"/>
                </a:solidFill>
              </a:defRPr>
            </a:pPr>
            <a:r>
              <a:t>Verify Libraries Before Lunch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Run the fast package synchronizer from inside the repository:</a:t>
            </a:r>
            <a:br/>
            <a:br/>
            <a:r>
              <a:t>$ uv sync</a:t>
            </a:r>
            <a:br/>
            <a:br/>
            <a:r>
              <a:t>Verify sklearn:</a:t>
            </a:r>
            <a:br/>
            <a:r>
              <a:t>$ uv run python -c "import sklearn; print(sklearn.__version__)"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5669280" cy="41148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/>
              <a:t>AIT</a:t>
            </a:r>
            <a:r>
              <a:rPr lang="en-US" dirty="0"/>
              <a:t> Brain Lab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rPr lang="en-US" dirty="0"/>
              <a:t>Telehealth</a:t>
            </a:r>
          </a:p>
          <a:p>
            <a:pPr>
              <a:spcBef>
                <a:spcPts val="1200"/>
              </a:spcBef>
              <a:defRPr sz="1700">
                <a:solidFill>
                  <a:srgbClr val="94BA33"/>
                </a:solidFill>
              </a:defRPr>
            </a:pPr>
            <a:r>
              <a:rPr lang="en-US" dirty="0"/>
              <a:t>Monitoring and Assistive Systems for Elderly and Disabled People</a:t>
            </a:r>
          </a:p>
          <a:p>
            <a:pPr>
              <a:spcBef>
                <a:spcPts val="1200"/>
              </a:spcBef>
              <a:defRPr sz="1700">
                <a:solidFill>
                  <a:srgbClr val="94BA33"/>
                </a:solidFill>
              </a:defRPr>
            </a:pPr>
            <a:r>
              <a:rPr lang="en-US" dirty="0"/>
              <a:t>Asst. </a:t>
            </a:r>
            <a:r>
              <a:rPr dirty="0"/>
              <a:t>Prof. </a:t>
            </a:r>
            <a:r>
              <a:rPr dirty="0" err="1"/>
              <a:t>Chaklam</a:t>
            </a:r>
            <a:r>
              <a:rPr dirty="0"/>
              <a:t> </a:t>
            </a:r>
            <a:r>
              <a:rPr dirty="0" err="1"/>
              <a:t>Silpasuwanchai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22960" y="4572000"/>
            <a:ext cx="10515600" cy="146304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tlCol="0" anchor="ctr"/>
          <a:lstStyle/>
          <a:p>
            <a:pPr algn="ctr">
              <a:defRPr sz="1300" b="1">
                <a:solidFill>
                  <a:srgbClr val="94BA33"/>
                </a:solidFill>
              </a:defRPr>
            </a:pPr>
            <a:r>
              <a:rPr dirty="0"/>
              <a:t>Grounding Theory in Real AIT Systems Engineering:</a:t>
            </a:r>
          </a:p>
          <a:p>
            <a:pPr>
              <a:spcBef>
                <a:spcPts val="400"/>
              </a:spcBef>
              <a:defRPr sz="1350" b="1">
                <a:solidFill>
                  <a:srgbClr val="FFFFFF"/>
                </a:solidFill>
              </a:defRPr>
            </a:pPr>
            <a:r>
              <a:rPr dirty="0"/>
              <a:t>Connecting optical Raman laser sensors, computer vision telemetry, and haptic rehabilitation robotics to global clinical standards and FHIR microservices.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1460D-3A2E-60CE-8F40-069BDB79A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7608A55-3830-A28D-BEB6-E333E58B4AE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BFFA52-8837-C77E-E363-9243FE989CD3}"/>
              </a:ext>
            </a:extLst>
          </p:cNvPr>
          <p:cNvSpPr txBox="1"/>
          <p:nvPr/>
        </p:nvSpPr>
        <p:spPr>
          <a:xfrm>
            <a:off x="731520" y="365760"/>
            <a:ext cx="77724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rPr dirty="0"/>
              <a:t>AIT</a:t>
            </a:r>
            <a:r>
              <a:rPr lang="en-US" dirty="0"/>
              <a:t> Brain Lab</a:t>
            </a:r>
            <a:endParaRPr dirty="0"/>
          </a:p>
        </p:txBody>
      </p:sp>
      <p:pic>
        <p:nvPicPr>
          <p:cNvPr id="6" name="Picture 5" descr="ait_logo.png">
            <a:extLst>
              <a:ext uri="{FF2B5EF4-FFF2-40B4-BE49-F238E27FC236}">
                <a16:creationId xmlns:a16="http://schemas.microsoft.com/office/drawing/2014/main" id="{FCA24777-72AE-FF0D-BA33-253AFD8F6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C3CFC5-0D30-1F17-80F8-A4122C739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29" y="1326894"/>
            <a:ext cx="5364480" cy="41410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AE4AE3-85F6-7059-A817-DADA31804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739" y="1281308"/>
            <a:ext cx="5664332" cy="42321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60088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380269C-FFBC-94E2-EEBB-63FAAF35368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74288-22A0-B7BC-4A60-80D0BA08E860}"/>
              </a:ext>
            </a:extLst>
          </p:cNvPr>
          <p:cNvSpPr txBox="1"/>
          <p:nvPr/>
        </p:nvSpPr>
        <p:spPr>
          <a:xfrm>
            <a:off x="635428" y="1488305"/>
            <a:ext cx="609728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Area of interest</a:t>
            </a:r>
            <a:endParaRPr lang="en-TH" b="0" dirty="0">
              <a:effectLst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Natural Language Processing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Computer Vision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Medical AI</a:t>
            </a:r>
          </a:p>
          <a:p>
            <a:pPr marL="342900" lvl="0" indent="-342900"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Brain-Computer Interfaces</a:t>
            </a:r>
          </a:p>
          <a:p>
            <a:pPr rtl="0">
              <a:spcAft>
                <a:spcPts val="1200"/>
              </a:spcAft>
              <a:buNone/>
            </a:pP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Stats</a:t>
            </a:r>
            <a:endParaRPr lang="en-TH" b="0" dirty="0">
              <a:effectLst/>
            </a:endParaRP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en-TH" dirty="0"/>
              <a:t>14</a:t>
            </a: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Ph.D. students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en-TH" dirty="0"/>
              <a:t>14</a:t>
            </a: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Master students</a:t>
            </a:r>
          </a:p>
          <a:p>
            <a:pPr marL="342900" lvl="0" indent="-342900"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TH" dirty="0"/>
              <a:t>50+</a:t>
            </a: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Alumni</a:t>
            </a:r>
          </a:p>
          <a:p>
            <a:pPr rtl="0">
              <a:spcAft>
                <a:spcPts val="1200"/>
              </a:spcAft>
              <a:buNone/>
            </a:pP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Associated company</a:t>
            </a:r>
            <a:endParaRPr lang="en-TH" b="0" dirty="0">
              <a:effectLst/>
            </a:endParaRPr>
          </a:p>
          <a:p>
            <a:pPr marL="342900" lvl="0" indent="-342900"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TH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AI Brain Lab</a:t>
            </a:r>
            <a:endParaRPr lang="en-T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25774B-7DC2-A9BC-3A9B-8EDB1D3CE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206" y="322951"/>
            <a:ext cx="7772400" cy="62120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62DBE3-4846-9018-58C9-256E3C406FDA}"/>
              </a:ext>
            </a:extLst>
          </p:cNvPr>
          <p:cNvSpPr txBox="1"/>
          <p:nvPr/>
        </p:nvSpPr>
        <p:spPr>
          <a:xfrm>
            <a:off x="731520" y="365760"/>
            <a:ext cx="77724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rPr dirty="0"/>
              <a:t>AIT</a:t>
            </a:r>
            <a:r>
              <a:rPr lang="en-US" dirty="0"/>
              <a:t> Brain Lab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43188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rPr lang="en-US" dirty="0"/>
              <a:t>AIT Brain Lab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DB4EB87-AA99-8BEC-367D-54202C237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705394"/>
            <a:ext cx="5034086" cy="5677176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3C8DAB7-2B93-3608-E812-A4A39CC22042}"/>
              </a:ext>
            </a:extLst>
          </p:cNvPr>
          <p:cNvSpPr/>
          <p:nvPr/>
        </p:nvSpPr>
        <p:spPr>
          <a:xfrm>
            <a:off x="6096000" y="1116874"/>
            <a:ext cx="2514600" cy="23707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050" b="1">
                <a:solidFill>
                  <a:srgbClr val="94BA33"/>
                </a:solidFill>
              </a:defRPr>
            </a:pPr>
            <a:r>
              <a:rPr dirty="0"/>
              <a:t>WP1: Optical Glucose Sensing</a:t>
            </a:r>
          </a:p>
          <a:p>
            <a:pPr>
              <a:spcBef>
                <a:spcPts val="400"/>
              </a:spcBef>
              <a:defRPr sz="1300" b="1">
                <a:solidFill>
                  <a:srgbClr val="1B3E24"/>
                </a:solidFill>
              </a:defRPr>
            </a:pPr>
            <a:r>
              <a:rPr dirty="0"/>
              <a:t>Non-Invasive Raman Sensor</a:t>
            </a:r>
          </a:p>
          <a:p>
            <a:pPr>
              <a:spcBef>
                <a:spcPts val="800"/>
              </a:spcBef>
              <a:defRPr sz="1050">
                <a:solidFill>
                  <a:srgbClr val="142118"/>
                </a:solidFill>
              </a:defRPr>
            </a:pPr>
            <a:r>
              <a:rPr dirty="0"/>
              <a:t>Measures blood glucose without skin pricks using 785nm optical Raman laser spectroscopy.</a:t>
            </a:r>
          </a:p>
          <a:p>
            <a:pPr>
              <a:spcBef>
                <a:spcPts val="1000"/>
              </a:spcBef>
              <a:defRPr sz="950">
                <a:solidFill>
                  <a:srgbClr val="526458"/>
                </a:solidFill>
              </a:defRPr>
            </a:pPr>
            <a:br>
              <a:rPr dirty="0"/>
            </a:br>
            <a:r>
              <a:rPr dirty="0"/>
              <a:t>Edge ML calibration models.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AA1938F-BD08-DBBD-89AB-85F3BAE92731}"/>
              </a:ext>
            </a:extLst>
          </p:cNvPr>
          <p:cNvSpPr/>
          <p:nvPr/>
        </p:nvSpPr>
        <p:spPr>
          <a:xfrm>
            <a:off x="8755076" y="1116874"/>
            <a:ext cx="2514600" cy="23707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050" b="1">
                <a:solidFill>
                  <a:srgbClr val="285C36"/>
                </a:solidFill>
              </a:defRPr>
            </a:pPr>
            <a:r>
              <a:rPr dirty="0"/>
              <a:t>WP2: Activity &amp; Fall Telemetry</a:t>
            </a:r>
          </a:p>
          <a:p>
            <a:pPr>
              <a:spcBef>
                <a:spcPts val="400"/>
              </a:spcBef>
              <a:defRPr sz="1300" b="1">
                <a:solidFill>
                  <a:srgbClr val="1B3E24"/>
                </a:solidFill>
              </a:defRPr>
            </a:pPr>
            <a:r>
              <a:rPr dirty="0"/>
              <a:t>Computer Vision &amp; Wi-Fi CSI</a:t>
            </a:r>
          </a:p>
          <a:p>
            <a:pPr>
              <a:spcBef>
                <a:spcPts val="800"/>
              </a:spcBef>
              <a:defRPr sz="1050">
                <a:solidFill>
                  <a:srgbClr val="142118"/>
                </a:solidFill>
              </a:defRPr>
            </a:pPr>
            <a:r>
              <a:rPr dirty="0"/>
              <a:t>Monitors elderly mobility and detects falls in real time using privacy-preserving camera feeds and Wi-Fi disturbance.</a:t>
            </a:r>
          </a:p>
          <a:p>
            <a:pPr>
              <a:spcBef>
                <a:spcPts val="1000"/>
              </a:spcBef>
              <a:defRPr sz="950">
                <a:solidFill>
                  <a:srgbClr val="526458"/>
                </a:solidFill>
              </a:defRPr>
            </a:pPr>
            <a:r>
              <a:rPr dirty="0"/>
              <a:t>Continuous spatial &amp; time-series AI</a:t>
            </a:r>
            <a:br>
              <a:rPr dirty="0"/>
            </a:br>
            <a:r>
              <a:rPr dirty="0"/>
              <a:t>Edge inference on embedded hardware.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907F93A-973B-B9AF-49F4-4C88E7516A00}"/>
              </a:ext>
            </a:extLst>
          </p:cNvPr>
          <p:cNvSpPr/>
          <p:nvPr/>
        </p:nvSpPr>
        <p:spPr>
          <a:xfrm>
            <a:off x="6096000" y="3673404"/>
            <a:ext cx="2514600" cy="23707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050" b="1">
                <a:solidFill>
                  <a:srgbClr val="1B3E24"/>
                </a:solidFill>
              </a:defRPr>
            </a:pPr>
            <a:r>
              <a:t>WP3: Remote Haptic Therapy</a:t>
            </a:r>
          </a:p>
          <a:p>
            <a:pPr>
              <a:spcBef>
                <a:spcPts val="400"/>
              </a:spcBef>
              <a:defRPr sz="1300" b="1">
                <a:solidFill>
                  <a:srgbClr val="1B3E24"/>
                </a:solidFill>
              </a:defRPr>
            </a:pPr>
            <a:r>
              <a:t>Robotic Physical Rehabilitation</a:t>
            </a:r>
          </a:p>
          <a:p>
            <a:pPr>
              <a:spcBef>
                <a:spcPts val="800"/>
              </a:spcBef>
              <a:defRPr sz="1050">
                <a:solidFill>
                  <a:srgbClr val="142118"/>
                </a:solidFill>
              </a:defRPr>
            </a:pPr>
            <a:r>
              <a:t>Upper-limb rehabilitation device providing programmable force-feedback for stroke patient recovery.</a:t>
            </a:r>
          </a:p>
          <a:p>
            <a:pPr>
              <a:spcBef>
                <a:spcPts val="1000"/>
              </a:spcBef>
              <a:defRPr sz="950">
                <a:solidFill>
                  <a:srgbClr val="526458"/>
                </a:solidFill>
              </a:defRPr>
            </a:pPr>
            <a:r>
              <a:t>Bi-directional physical telemetry</a:t>
            </a:r>
            <a:br/>
            <a:r>
              <a:t>Remote clinician tele-operation.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2F6692D-91C3-DE56-1BBA-95F12F1591CF}"/>
              </a:ext>
            </a:extLst>
          </p:cNvPr>
          <p:cNvSpPr/>
          <p:nvPr/>
        </p:nvSpPr>
        <p:spPr>
          <a:xfrm>
            <a:off x="8755076" y="3673404"/>
            <a:ext cx="2514600" cy="23707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050" b="1">
                <a:solidFill>
                  <a:srgbClr val="C0392B"/>
                </a:solidFill>
              </a:defRPr>
            </a:pPr>
            <a:r>
              <a:rPr dirty="0"/>
              <a:t>WP4: Cloud Telehealth Platform</a:t>
            </a:r>
          </a:p>
          <a:p>
            <a:pPr>
              <a:spcBef>
                <a:spcPts val="400"/>
              </a:spcBef>
              <a:defRPr sz="1300" b="1">
                <a:solidFill>
                  <a:srgbClr val="1B3E24"/>
                </a:solidFill>
              </a:defRPr>
            </a:pPr>
            <a:r>
              <a:rPr lang="en-US" dirty="0"/>
              <a:t>Centralize dashboard system</a:t>
            </a:r>
            <a:endParaRPr dirty="0"/>
          </a:p>
          <a:p>
            <a:pPr>
              <a:spcBef>
                <a:spcPts val="800"/>
              </a:spcBef>
              <a:defRPr sz="1050">
                <a:solidFill>
                  <a:srgbClr val="142118"/>
                </a:solidFill>
              </a:defRPr>
            </a:pPr>
            <a:r>
              <a:rPr dirty="0"/>
              <a:t>Consolidates telemetry from WP1–WP3 into an encrypted cloud backend for clinician review.</a:t>
            </a:r>
          </a:p>
          <a:p>
            <a:pPr>
              <a:spcBef>
                <a:spcPts val="1000"/>
              </a:spcBef>
              <a:defRPr sz="950">
                <a:solidFill>
                  <a:srgbClr val="526458"/>
                </a:solidFill>
              </a:defRPr>
            </a:pPr>
            <a:r>
              <a:rPr dirty="0"/>
              <a:t>Real-time web &amp; mobile dashboards.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rPr lang="en-US" dirty="0"/>
              <a:t>AIT Brain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rPr dirty="0"/>
              <a:t>Non-Invasive Glucose via Raman Spectroscopy</a:t>
            </a:r>
            <a:r>
              <a:rPr lang="en-US" dirty="0"/>
              <a:t> and Telehealth system</a:t>
            </a:r>
            <a:endParaRPr dirty="0"/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5E48269-B40F-25AC-ACBC-C60A2045E1C4}"/>
              </a:ext>
            </a:extLst>
          </p:cNvPr>
          <p:cNvSpPr/>
          <p:nvPr/>
        </p:nvSpPr>
        <p:spPr>
          <a:xfrm>
            <a:off x="286013" y="1571791"/>
            <a:ext cx="6093848" cy="4521883"/>
          </a:xfrm>
          <a:prstGeom prst="roundRect">
            <a:avLst>
              <a:gd name="adj" fmla="val 4935"/>
            </a:avLst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050" b="1">
                <a:solidFill>
                  <a:srgbClr val="94BA33"/>
                </a:solidFill>
              </a:defRPr>
            </a:pPr>
            <a:r>
              <a:rPr dirty="0"/>
              <a:t>WP1: Optical Glucose Sensing</a:t>
            </a:r>
            <a:endParaRPr lang="en-US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94BA33"/>
                </a:solidFill>
              </a:defRPr>
            </a:pP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08FBF5B-149C-965B-1B79-D9F4ACA250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74" t="4583" r="2697" b="7749"/>
          <a:stretch>
            <a:fillRect/>
          </a:stretch>
        </p:blipFill>
        <p:spPr>
          <a:xfrm rot="5400000">
            <a:off x="125708" y="2334688"/>
            <a:ext cx="3855417" cy="3105486"/>
          </a:xfrm>
          <a:prstGeom prst="rect">
            <a:avLst/>
          </a:prstGeom>
        </p:spPr>
      </p:pic>
      <p:pic>
        <p:nvPicPr>
          <p:cNvPr id="17" name="Picture 16" descr="EJM - Multi-scale characterization of glaucophane from Chiavolino ...">
            <a:extLst>
              <a:ext uri="{FF2B5EF4-FFF2-40B4-BE49-F238E27FC236}">
                <a16:creationId xmlns:a16="http://schemas.microsoft.com/office/drawing/2014/main" id="{65B3AEFE-656C-28A0-7E2D-84CB51B338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4116698" y="2052169"/>
            <a:ext cx="1907291" cy="1519555"/>
          </a:xfrm>
          <a:prstGeom prst="rect">
            <a:avLst/>
          </a:prstGeom>
        </p:spPr>
      </p:pic>
      <p:pic>
        <p:nvPicPr>
          <p:cNvPr id="20" name="Picture 19" descr="JSSS - Deep neural networks for computational optical form measurements">
            <a:extLst>
              <a:ext uri="{FF2B5EF4-FFF2-40B4-BE49-F238E27FC236}">
                <a16:creationId xmlns:a16="http://schemas.microsoft.com/office/drawing/2014/main" id="{33B16952-E410-6918-7B77-8C6DBF0F31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rcRect l="65397" t="31460" r="516" b="10853"/>
          <a:stretch>
            <a:fillRect/>
          </a:stretch>
        </p:blipFill>
        <p:spPr>
          <a:xfrm>
            <a:off x="4581682" y="3768569"/>
            <a:ext cx="977322" cy="107256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98234F8-F2CE-E0A5-2E93-917ACFA2344E}"/>
              </a:ext>
            </a:extLst>
          </p:cNvPr>
          <p:cNvSpPr txBox="1"/>
          <p:nvPr/>
        </p:nvSpPr>
        <p:spPr>
          <a:xfrm>
            <a:off x="3995401" y="5136260"/>
            <a:ext cx="2149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H" dirty="0"/>
              <a:t>118 mg/dL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7EF969E-CE0C-F81F-4F74-E46A644D128B}"/>
              </a:ext>
            </a:extLst>
          </p:cNvPr>
          <p:cNvSpPr/>
          <p:nvPr/>
        </p:nvSpPr>
        <p:spPr>
          <a:xfrm>
            <a:off x="9282455" y="1077144"/>
            <a:ext cx="2555884" cy="5491180"/>
          </a:xfrm>
          <a:prstGeom prst="roundRect">
            <a:avLst>
              <a:gd name="adj" fmla="val 5250"/>
            </a:avLst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228600" rIns="228600" rtlCol="0" anchor="ctr"/>
          <a:lstStyle/>
          <a:p>
            <a:pPr algn="ctr">
              <a:defRPr sz="1050" b="1">
                <a:solidFill>
                  <a:srgbClr val="C0392B"/>
                </a:solidFill>
              </a:defRPr>
            </a:pPr>
            <a:r>
              <a:rPr dirty="0"/>
              <a:t>WP4: Cloud Telehealth Platform</a:t>
            </a:r>
            <a:endParaRPr lang="en-US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lang="en-TH" dirty="0"/>
          </a:p>
          <a:p>
            <a:pPr algn="ctr">
              <a:defRPr sz="1050" b="1">
                <a:solidFill>
                  <a:srgbClr val="C0392B"/>
                </a:solidFill>
              </a:defRPr>
            </a:pPr>
            <a:endParaRPr dirty="0"/>
          </a:p>
        </p:txBody>
      </p:sp>
      <p:pic>
        <p:nvPicPr>
          <p:cNvPr id="24" name="Picture 23" descr="Server Parts Technology Images | Free Photos, PNG Stickers, Wallpapers ...">
            <a:extLst>
              <a:ext uri="{FF2B5EF4-FFF2-40B4-BE49-F238E27FC236}">
                <a16:creationId xmlns:a16="http://schemas.microsoft.com/office/drawing/2014/main" id="{2BD01D04-8A13-7EE8-41E6-3A8052CDBB3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9733621" y="1352525"/>
            <a:ext cx="1670055" cy="242917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087F68C-AD69-1DEE-417A-31033D86F20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26695" y="4858478"/>
            <a:ext cx="2264632" cy="1571722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6C3C08E-F5A2-3D51-B0A2-D0EBFEB58402}"/>
              </a:ext>
            </a:extLst>
          </p:cNvPr>
          <p:cNvCxnSpPr/>
          <p:nvPr/>
        </p:nvCxnSpPr>
        <p:spPr>
          <a:xfrm>
            <a:off x="6379861" y="2296470"/>
            <a:ext cx="33537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31B492B-B398-0E36-513B-EEEA57C6E11A}"/>
              </a:ext>
            </a:extLst>
          </p:cNvPr>
          <p:cNvSpPr txBox="1"/>
          <p:nvPr/>
        </p:nvSpPr>
        <p:spPr>
          <a:xfrm>
            <a:off x="6842194" y="1893204"/>
            <a:ext cx="2429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POST /Observation</a:t>
            </a:r>
            <a:endParaRPr lang="en-TH" dirty="0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F7C134D-6F9C-A105-6868-B5274733EBC3}"/>
              </a:ext>
            </a:extLst>
          </p:cNvPr>
          <p:cNvSpPr/>
          <p:nvPr/>
        </p:nvSpPr>
        <p:spPr>
          <a:xfrm>
            <a:off x="6531079" y="2378213"/>
            <a:ext cx="2608807" cy="3059326"/>
          </a:xfrm>
          <a:prstGeom prst="roundRect">
            <a:avLst>
              <a:gd name="adj" fmla="val 4624"/>
            </a:avLst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// Raman Glucose in FHIR R4 JSON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rPr lang="en-US" sz="600" dirty="0">
                <a:solidFill>
                  <a:schemeClr val="tx1"/>
                </a:solidFill>
              </a:rPr>
              <a:t>{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"</a:t>
            </a:r>
            <a:r>
              <a:rPr lang="en-US" sz="600" dirty="0" err="1">
                <a:solidFill>
                  <a:schemeClr val="tx1"/>
                </a:solidFill>
              </a:rPr>
              <a:t>resourceType</a:t>
            </a:r>
            <a:r>
              <a:rPr lang="en-US" sz="600" dirty="0">
                <a:solidFill>
                  <a:schemeClr val="tx1"/>
                </a:solidFill>
              </a:rPr>
              <a:t>": "Observation",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"id": "ait-raman-glucose-001",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"status": "final",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rPr lang="en-US" sz="600" dirty="0">
                <a:solidFill>
                  <a:schemeClr val="tx1"/>
                </a:solidFill>
              </a:rPr>
              <a:t>  "code": {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"coding": [{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  "system": "http://</a:t>
            </a:r>
            <a:r>
              <a:rPr lang="en-US" sz="600" dirty="0" err="1">
                <a:solidFill>
                  <a:schemeClr val="tx1"/>
                </a:solidFill>
              </a:rPr>
              <a:t>loinc.org</a:t>
            </a:r>
            <a:r>
              <a:rPr lang="en-US" sz="600" dirty="0">
                <a:solidFill>
                  <a:schemeClr val="tx1"/>
                </a:solidFill>
              </a:rPr>
              <a:t>",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  "code": "2339-0",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  "display": "Glucose [Mass/vol] in Blood"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}]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},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rPr lang="en-US" sz="600" dirty="0">
                <a:solidFill>
                  <a:schemeClr val="tx1"/>
                </a:solidFill>
              </a:rPr>
              <a:t>  "subject": { "reference": "Patient/P0001" },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"</a:t>
            </a:r>
            <a:r>
              <a:rPr lang="en-US" sz="600" dirty="0" err="1">
                <a:solidFill>
                  <a:schemeClr val="tx1"/>
                </a:solidFill>
              </a:rPr>
              <a:t>effectiveDateTime</a:t>
            </a:r>
            <a:r>
              <a:rPr lang="en-US" sz="600" dirty="0">
                <a:solidFill>
                  <a:schemeClr val="tx1"/>
                </a:solidFill>
              </a:rPr>
              <a:t>": "2026-09-09T10:30:00+07:00",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rPr lang="en-US" sz="600" dirty="0">
                <a:solidFill>
                  <a:schemeClr val="tx1"/>
                </a:solidFill>
              </a:rPr>
              <a:t>  "</a:t>
            </a:r>
            <a:r>
              <a:rPr lang="en-US" sz="600" dirty="0" err="1">
                <a:solidFill>
                  <a:schemeClr val="tx1"/>
                </a:solidFill>
              </a:rPr>
              <a:t>valueQuantity</a:t>
            </a:r>
            <a:r>
              <a:rPr lang="en-US" sz="600" dirty="0">
                <a:solidFill>
                  <a:schemeClr val="tx1"/>
                </a:solidFill>
              </a:rPr>
              <a:t>": {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"value": 118,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"unit": "mg/dL",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"system": "http://</a:t>
            </a:r>
            <a:r>
              <a:rPr lang="en-US" sz="600" dirty="0" err="1">
                <a:solidFill>
                  <a:schemeClr val="tx1"/>
                </a:solidFill>
              </a:rPr>
              <a:t>unitsofmeasure.org</a:t>
            </a:r>
            <a:r>
              <a:rPr lang="en-US" sz="600" dirty="0">
                <a:solidFill>
                  <a:schemeClr val="tx1"/>
                </a:solidFill>
              </a:rPr>
              <a:t>",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"code": "mg/dL"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},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rPr lang="en-US" sz="600" dirty="0">
                <a:solidFill>
                  <a:schemeClr val="tx1"/>
                </a:solidFill>
              </a:rPr>
              <a:t>  "method": {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"coding": [{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  "system": "http://</a:t>
            </a:r>
            <a:r>
              <a:rPr lang="en-US" sz="600" dirty="0" err="1">
                <a:solidFill>
                  <a:schemeClr val="tx1"/>
                </a:solidFill>
              </a:rPr>
              <a:t>snomed.info</a:t>
            </a:r>
            <a:r>
              <a:rPr lang="en-US" sz="600" dirty="0">
                <a:solidFill>
                  <a:schemeClr val="tx1"/>
                </a:solidFill>
              </a:rPr>
              <a:t>/</a:t>
            </a:r>
            <a:r>
              <a:rPr lang="en-US" sz="600" dirty="0" err="1">
                <a:solidFill>
                  <a:schemeClr val="tx1"/>
                </a:solidFill>
              </a:rPr>
              <a:t>sct</a:t>
            </a:r>
            <a:r>
              <a:rPr lang="en-US" sz="600" dirty="0">
                <a:solidFill>
                  <a:schemeClr val="tx1"/>
                </a:solidFill>
              </a:rPr>
              <a:t>",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  "code": "439401001",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  "display": "In-vivo Raman spectroscopy"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  }]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  }</a:t>
            </a:r>
            <a:br>
              <a:rPr lang="en-US" sz="600" dirty="0">
                <a:solidFill>
                  <a:schemeClr val="tx1"/>
                </a:solidFill>
              </a:rPr>
            </a:br>
            <a:r>
              <a:rPr lang="en-US" sz="600" dirty="0">
                <a:solidFill>
                  <a:schemeClr val="tx1"/>
                </a:solidFill>
              </a:rPr>
              <a:t>}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11F55AC-BBCD-E1DE-C363-5AF57E9CE5BC}"/>
              </a:ext>
            </a:extLst>
          </p:cNvPr>
          <p:cNvCxnSpPr>
            <a:cxnSpLocks/>
          </p:cNvCxnSpPr>
          <p:nvPr/>
        </p:nvCxnSpPr>
        <p:spPr>
          <a:xfrm>
            <a:off x="9793853" y="3781696"/>
            <a:ext cx="0" cy="10767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0A5BE6E-29B7-1715-6751-BFDB3F839F92}"/>
              </a:ext>
            </a:extLst>
          </p:cNvPr>
          <p:cNvSpPr txBox="1"/>
          <p:nvPr/>
        </p:nvSpPr>
        <p:spPr>
          <a:xfrm>
            <a:off x="9786821" y="4120184"/>
            <a:ext cx="4914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/Observation</a:t>
            </a:r>
            <a:endParaRPr lang="en-TH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4983</Words>
  <Application>Microsoft Macintosh PowerPoint</Application>
  <PresentationFormat>Widescreen</PresentationFormat>
  <Paragraphs>401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Akraradet Sinsamersuk</cp:lastModifiedBy>
  <cp:revision>15</cp:revision>
  <dcterms:created xsi:type="dcterms:W3CDTF">2013-01-27T09:14:16Z</dcterms:created>
  <dcterms:modified xsi:type="dcterms:W3CDTF">2026-09-09T09:57:30Z</dcterms:modified>
  <cp:category/>
</cp:coreProperties>
</file>