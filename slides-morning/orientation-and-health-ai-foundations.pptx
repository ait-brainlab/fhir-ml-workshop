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286000" cy="48985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011680"/>
            <a:ext cx="5669280" cy="41148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AIT BRAIN LAB · MEDICAL ICT &amp; HEALTH AI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800">
                <a:solidFill>
                  <a:srgbClr val="FFFFFF"/>
                </a:solidFill>
              </a:defRPr>
            </a:pPr>
            <a:r>
              <a:t>Orientation &amp; Intro to AI in Health Foundations</a:t>
            </a:r>
          </a:p>
          <a:p>
            <a:pPr>
              <a:spcBef>
                <a:spcPts val="1200"/>
              </a:spcBef>
              <a:defRPr sz="1700">
                <a:solidFill>
                  <a:srgbClr val="94BA33"/>
                </a:solidFill>
              </a:defRPr>
            </a:pPr>
            <a:r>
              <a:t>Hospital IT History, Modern Standards (HL7 v2, FHIR R4), and Clinical AI Modalities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128016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Morning Theory Session: 10:00 – 12:00  |  Venue: Library Studio Room</a:t>
            </a:r>
          </a:p>
          <a:p>
            <a:pPr>
              <a:spcBef>
                <a:spcPts val="600"/>
              </a:spcBef>
              <a:defRPr sz="1200">
                <a:solidFill>
                  <a:srgbClr val="94BA33"/>
                </a:solidFill>
              </a:defRPr>
            </a:pPr>
            <a:r>
              <a:t>Audience: 20 Undergraduate Engineering Students (IT, Agricultural Engineering, Mechanical Engineering)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WORKSHOP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2 + 1 Session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A structured journey from medical computing history to cutting-edge AI and AIT research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PHASE 1 (45 MINS)</a:t>
            </a:r>
          </a:p>
          <a:p>
            <a:pPr>
              <a:spcBef>
                <a:spcPts val="400"/>
              </a:spcBef>
              <a:defRPr b="1" sz="1600">
                <a:solidFill>
                  <a:srgbClr val="1B3E24"/>
                </a:solidFill>
              </a:defRPr>
            </a:pPr>
            <a:r>
              <a:t>History of Hospital IT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How healthcare evolved from paper charts and 1960s mainframes to HL7 v2 and modern FHIR R4 web standards.</a:t>
            </a:r>
            <a:br/>
            <a:br/>
            <a:r>
              <a:t>• Pre-1960 Analog Paper &amp; Tubes</a:t>
            </a:r>
            <a:br/>
            <a:r>
              <a:t>• 1960s Mainframes &amp; MUMPS</a:t>
            </a:r>
            <a:br/>
            <a:r>
              <a:t>• 1980s Sockets &amp; HL7 Delimiters</a:t>
            </a:r>
            <a:br/>
            <a:r>
              <a:t>• 2014+ FHIR REST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100">
                <a:solidFill>
                  <a:srgbClr val="1B3E24"/>
                </a:solidFill>
              </a:defRPr>
            </a:pPr>
            <a:r>
              <a:t>PHASE 2 (45 MINS)</a:t>
            </a:r>
          </a:p>
          <a:p>
            <a:pPr>
              <a:spcBef>
                <a:spcPts val="400"/>
              </a:spcBef>
              <a:defRPr b="1" sz="1600">
                <a:solidFill>
                  <a:srgbClr val="1B3E24"/>
                </a:solidFill>
              </a:defRPr>
            </a:pPr>
            <a:r>
              <a:t>Evolution of AI Modalities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How medical data transforms into mathematical representations across four core AI paradigms.</a:t>
            </a:r>
            <a:br/>
            <a:br/>
            <a:r>
              <a:t>• 1. Tabular (Classical ML)</a:t>
            </a:r>
            <a:br/>
            <a:r>
              <a:t>• 2. Spatial / Images (Vision)</a:t>
            </a:r>
            <a:br/>
            <a:r>
              <a:t>• 3. Time-Series (Telemetry)</a:t>
            </a:r>
            <a:br/>
            <a:r>
              <a:t>• 4. Text &amp; LLMs (RAG / MCP)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PHASE +1 (20 MINS)</a:t>
            </a:r>
          </a:p>
          <a:p>
            <a:pPr>
              <a:spcBef>
                <a:spcPts val="400"/>
              </a:spcBef>
              <a:defRPr b="1" sz="1600">
                <a:solidFill>
                  <a:srgbClr val="1B3E24"/>
                </a:solidFill>
              </a:defRPr>
            </a:pPr>
            <a:r>
              <a:t>AIT Research in Action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Dedicated spotlight for Prof. Chaklam Silpasuwanchai and the AIT Telehealth Project.</a:t>
            </a:r>
            <a:br/>
            <a:br/>
            <a:r>
              <a:t>• Telehealth &amp; Assistive Systems</a:t>
            </a:r>
            <a:br/>
            <a:r>
              <a:t>• WP1 Raman Spectroscopy POC</a:t>
            </a:r>
            <a:br/>
            <a:r>
              <a:t>• Mobile App (BloodGlucose-App)</a:t>
            </a:r>
            <a:br/>
            <a:r>
              <a:t>• Real-World FHIR R4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Pre-1960: How Hospitals Kept Records Before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Physical charts, pneumatic vacuum tubes, and the dangers of lost medical memory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THE ANALOG HEALTHCARE SYSTEM</a:t>
            </a:r>
          </a:p>
          <a:p>
            <a:pPr>
              <a:spcBef>
                <a:spcPts val="600"/>
              </a:spcBef>
              <a:defRPr b="1" sz="2000">
                <a:solidFill>
                  <a:srgbClr val="1B3E24"/>
                </a:solidFill>
              </a:defRPr>
            </a:pPr>
            <a:r>
              <a:t>Paper Folders, Bed Clipboards, and Vacuum Tubes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Basement Record Room: </a:t>
            </a:r>
            <a:r>
              <a:rPr b="0">
                <a:solidFill>
                  <a:srgbClr val="526458"/>
                </a:solidFill>
              </a:rPr>
              <a:t>Patient histories lived as physical paper sheets in cardboard folders filed in massive hospital basements. Retrieving a record required orderlies to manually locate and pull folders.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Clipboards at the Foot of the Bed: </a:t>
            </a:r>
            <a:r>
              <a:rPr b="0">
                <a:solidFill>
                  <a:srgbClr val="526458"/>
                </a:solidFill>
              </a:rPr>
              <a:t>Vital signs (temperature, pulse, blood pressure) and medication doses were hand-scribbled by nurses onto paper flowsheets hanging on patient beds.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Pneumatic Tube Transport: </a:t>
            </a:r>
            <a:r>
              <a:rPr b="0">
                <a:solidFill>
                  <a:srgbClr val="526458"/>
                </a:solidFill>
              </a:rPr>
              <a:t>Blood vials and paper requisition forms were loaded into brass canisters and propelled through hospital pneumatic vacuum tubes directly into the laboratory.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Severe Failure Mode: </a:t>
            </a:r>
            <a:r>
              <a:rPr b="0">
                <a:solidFill>
                  <a:srgbClr val="526458"/>
                </a:solidFill>
              </a:rPr>
              <a:t>Records were frequently misfiled, stained, illegible, or lost in fires. If a patient moved to another town or hospital, their clinical history vanished completely.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1960s: Mainframes, Magnetic Tapes &amp; MUMPS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The birth of digital healthcare computing and the operating system that still runs today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HARDWARE &amp; SNEAKERNET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IBM Mainframes &amp; Punch Cards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Mainframe Era: </a:t>
            </a:r>
            <a:r>
              <a:rPr b="0">
                <a:solidFill>
                  <a:srgbClr val="526458"/>
                </a:solidFill>
              </a:rPr>
              <a:t>Hospitals installed giant IBM 360/370 systems. Data was entered on 80-column Hollerith punch cards and 9-track magnetic tapes.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Sneakernet: </a:t>
            </a:r>
            <a:r>
              <a:rPr b="0">
                <a:solidFill>
                  <a:srgbClr val="526458"/>
                </a:solidFill>
              </a:rPr>
              <a:t>No computer networks existed. To submit billing to Medicare or Blue Cross, technicians backed up data to tape reels, loaded them into car trunks, and physically drove them across town.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Centralized Processing: </a:t>
            </a:r>
            <a:r>
              <a:rPr b="0">
                <a:solidFill>
                  <a:srgbClr val="526458"/>
                </a:solidFill>
              </a:rPr>
              <a:t>Computing was strictly batch-oriented. Doctors could not view real-time records at the bedside.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SOFTWARE REVOLUTION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1966: MUMPS at Mass General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Created for Medicine: </a:t>
            </a:r>
            <a:r>
              <a:rPr b="0">
                <a:solidFill>
                  <a:srgbClr val="526458"/>
                </a:solidFill>
              </a:rPr>
              <a:t>Neil Pappalardo and Dr. Octo Barnett built MUMPS (Mass General Multi-Programming System) specifically for sparse medical records.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Hierarchical Tree Globals: </a:t>
            </a:r>
            <a:r>
              <a:rPr b="0">
                <a:solidFill>
                  <a:srgbClr val="526458"/>
                </a:solidFill>
              </a:rPr>
              <a:t>Used dynamic sparse trees (^PATIENT(id, 'LAB', 'GLUCOSE') = 105) rather than rigid relational SQL tables.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Modern Legacy: </a:t>
            </a:r>
            <a:r>
              <a:rPr b="0">
                <a:solidFill>
                  <a:srgbClr val="526458"/>
                </a:solidFill>
              </a:rPr>
              <a:t>MUMPS powered the US Veterans Affairs VistA network. Today, Epic Systems (the world's largest EHR company) still runs its core backend on an advanced MUMPS engine (Caché / IRIS)!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1970s: Departmental Silos &amp; Early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Minicomputers fragmented the hospital into specialized islands; ASTM invented pipe delimiters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285C36"/>
                </a:solidFill>
              </a:defRPr>
            </a:pPr>
            <a:r>
              <a:t>Minicomputers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DEC PDP-11 &amp; VAX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Departments broke away from the central mainframe. Pathology, Radiology, and Pharmacy bought dedicated minicomputers running isolated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285C36"/>
                </a:solidFill>
              </a:defRPr>
            </a:pPr>
            <a:r>
              <a:t>ASTM Committee E31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The Ancestor of HL7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ASTM standardized automated blood analyzer serial communication (ASTM E1238). Crucially, ASTM invented the pipe and caret delimiter syntax (| and ^)!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285C36"/>
                </a:solidFill>
              </a:defRPr>
            </a:pPr>
            <a:r>
              <a:t>UB-82 Billing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Financial Standardization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National Uniform Billing Committee created UB-82 paper and fixed-width ASCII tape claim formats. Standardized billing codes, but zero clinical clinical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1980s: Local Networks &amp; The Integration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Ethernet connected the hardware, but software was trapped in quadratic complexity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C0392B"/>
                </a:solidFill>
              </a:defRPr>
            </a:pPr>
            <a:r>
              <a:t>THE INTEGRATION SPAGHETTI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The N(N-1)/2 Point-to-Point Trap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Quadratic Explosion: </a:t>
            </a:r>
            <a:r>
              <a:rPr b="0">
                <a:solidFill>
                  <a:srgbClr val="526458"/>
                </a:solidFill>
              </a:rPr>
              <a:t>Every medical vendor used a bespoke schema. Connecting 10 departmental systems required 45 custom interfaces. Connecting 50 required 1,225 bridges!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ACR-NEMA 50-Pin Cable: </a:t>
            </a:r>
            <a:r>
              <a:rPr b="0">
                <a:solidFill>
                  <a:srgbClr val="526458"/>
                </a:solidFill>
              </a:rPr>
              <a:t>In 1985, CT and MRI scanners required a custom, thick 50-pin copper cable running directly from scanner to console before DICOM existed.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Brittle Fragility: </a:t>
            </a:r>
            <a:r>
              <a:rPr b="0">
                <a:solidFill>
                  <a:srgbClr val="526458"/>
                </a:solidFill>
              </a:rPr>
              <a:t>Upgrading a single blood analyzer broke dozens of unmaintained point-to-point translation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THE ARCHITECTURAL GAP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OSI Layers 1–4 vs. Layer 7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TCP/IP Solved Moving Packets: </a:t>
            </a:r>
            <a:r>
              <a:rPr b="0">
                <a:solidFill>
                  <a:srgbClr val="526458"/>
                </a:solidFill>
              </a:rPr>
              <a:t>Layers 1 through 4 (Ethernet, IP, TCP) successfully routed raw bytes from Computer A to Computer B.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What Do the Bytes Mean?: </a:t>
            </a:r>
            <a:r>
              <a:rPr b="0">
                <a:solidFill>
                  <a:srgbClr val="526458"/>
                </a:solidFill>
              </a:rPr>
              <a:t>When a blood machine sent packets to an EHR, the receiving software had no idea whether the payload was a patient's potassium or a billing invoice.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Layer 7 Mandate: </a:t>
            </a:r>
            <a:r>
              <a:rPr b="0">
                <a:solidFill>
                  <a:srgbClr val="526458"/>
                </a:solidFill>
              </a:rPr>
              <a:t>Healthcare desperately needed an agreement at the OSI Application Layer (Layer 7). That realization sparked the creation of HL7.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1987–1989: The Birth of HL7 (Health Level Seven)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A grassroots group at the University of Pennsylvania solves hospital communication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400">
                <a:solidFill>
                  <a:srgbClr val="94BA33"/>
                </a:solidFill>
              </a:defRPr>
            </a:pPr>
            <a:r>
              <a:t>MARCH 1987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Committee Formed at HUP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Dr. Sam Schultz (Hospital of the University of Pennsylvania) and Dr. Ed Hammond (Duke) convene hospital IT leaders to bypass slow academic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400">
                <a:solidFill>
                  <a:srgbClr val="94BA33"/>
                </a:solidFill>
              </a:defRPr>
            </a:pPr>
            <a:r>
              <a:t>OCTOBER 1987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HL7 Version 1.0 (Draft)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An 84-page working draft covering basic Admission, Discharge, Transfer (ADT). Syncs patient room assignments over raw TCP sockets via MLLP framing.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400">
                <a:solidFill>
                  <a:srgbClr val="94BA33"/>
                </a:solidFill>
              </a:defRPr>
            </a:pPr>
            <a:r>
              <a:t>1989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HL7 Version 2.1 (Commercial)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First production standard widely adopted by major commercial vendors (Baxter, SMS, Sunquest). Becomes the global workhorse of medicine.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Anatomy of an HL7 v2 Message (`ORU^R01`)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The pipe-and-hat (| and ^) ASCII format powering hospital messaging since 1989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43891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SEGMENT STRUCTURE</a:t>
            </a:r>
          </a:p>
          <a:p>
            <a:pPr>
              <a:spcBef>
                <a:spcPts val="800"/>
              </a:spcBef>
              <a:defRPr b="1" sz="1100">
                <a:solidFill>
                  <a:srgbClr val="1B3E24"/>
                </a:solidFill>
              </a:defRPr>
            </a:pPr>
            <a:r>
              <a:t>MSH (Message Header):</a:t>
            </a:r>
            <a:br/>
            <a:r>
              <a:rPr b="0">
                <a:solidFill>
                  <a:srgbClr val="526458"/>
                </a:solidFill>
              </a:rPr>
              <a:t>Carries sending application, facility, message trigger (ORU^R01 lab result), and timestamp.</a:t>
            </a:r>
          </a:p>
          <a:p>
            <a:pPr>
              <a:spcBef>
                <a:spcPts val="800"/>
              </a:spcBef>
              <a:defRPr b="1" sz="1100">
                <a:solidFill>
                  <a:srgbClr val="1B3E24"/>
                </a:solidFill>
              </a:defRPr>
            </a:pPr>
            <a:r>
              <a:t>PID (Patient Identification):</a:t>
            </a:r>
            <a:br/>
            <a:r>
              <a:rPr b="0">
                <a:solidFill>
                  <a:srgbClr val="526458"/>
                </a:solidFill>
              </a:rPr>
              <a:t>Carries patient identifier (MRN), patient name, date of birth, and biological sex.</a:t>
            </a:r>
          </a:p>
          <a:p>
            <a:pPr>
              <a:spcBef>
                <a:spcPts val="800"/>
              </a:spcBef>
              <a:defRPr b="1" sz="1100">
                <a:solidFill>
                  <a:srgbClr val="1B3E24"/>
                </a:solidFill>
              </a:defRPr>
            </a:pPr>
            <a:r>
              <a:t>OBR (Observation Request):</a:t>
            </a:r>
            <a:br/>
            <a:r>
              <a:rPr b="0">
                <a:solidFill>
                  <a:srgbClr val="526458"/>
                </a:solidFill>
              </a:rPr>
              <a:t>Identifies the lab order, ordering physician, and specimen accession number.</a:t>
            </a:r>
          </a:p>
          <a:p>
            <a:pPr>
              <a:spcBef>
                <a:spcPts val="800"/>
              </a:spcBef>
              <a:defRPr b="1" sz="1100">
                <a:solidFill>
                  <a:srgbClr val="1B3E24"/>
                </a:solidFill>
              </a:defRPr>
            </a:pPr>
            <a:r>
              <a:t>OBX (Observation Result):</a:t>
            </a:r>
            <a:br/>
            <a:r>
              <a:rPr b="0">
                <a:solidFill>
                  <a:srgbClr val="526458"/>
                </a:solidFill>
              </a:rPr>
              <a:t>The actual test result: LOINC code, numeric measurement, units (um), and normal 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828800"/>
            <a:ext cx="6035040" cy="4389120"/>
          </a:xfrm>
          <a:prstGeom prst="roundRect">
            <a:avLst/>
          </a:prstGeom>
          <a:solidFill>
            <a:srgbClr val="13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050">
                <a:solidFill>
                  <a:srgbClr val="94BA33"/>
                </a:solidFill>
                <a:latin typeface="Courier New"/>
              </a:defRPr>
            </a:pPr>
            <a:r>
              <a:t>// Real HL7 v2.5 ORU^R01 (Lab Result Transmission)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MSH|^~\&amp;|LIS_SYS|AIT_HOSP|EMR_SYS|AIT_HOSP|20260909101500||ORU^R01|MSG000124|P|2.5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PID|1||P0001^^^MRN||DOE^JANE||19800512|F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OBR|1|ORD9812|LAB4401|21908-9^Cell Nuclei Biopsy^LN|||20260909093000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OBX|1|NM|21908-9^Mean Radius^LN|1|17.99|um|6.0-20.0|N|||F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OBX|2|NM|99901-1^Mean Texture^LN|1|10.38|score||N|||F</a:t>
            </a:r>
          </a:p>
          <a:p>
            <a:pPr>
              <a:spcBef>
                <a:spcPts val="800"/>
              </a:spcBef>
              <a:defRPr sz="950">
                <a:solidFill>
                  <a:srgbClr val="A6E22E"/>
                </a:solidFill>
                <a:latin typeface="Courier New"/>
              </a:defRPr>
            </a:pPr>
            <a:r>
              <a:t>OBX|3|NM|99901-2^Mean Perimeter^LN|1|122.8|um||N|||F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Technological Relativity: Why HL7 v2 in 1989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An engineering triumph for 1989 hardware that accumulated 30 years of Z-segment integration debt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600">
                <a:solidFill>
                  <a:srgbClr val="285C36"/>
                </a:solidFill>
              </a:defRPr>
            </a:pPr>
            <a:r>
              <a:t>The Context of 1989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Why Not JSON / REST?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The Web didn't exist (HTTP came in 1991, JSON in 2001). Hardware was 1–4 MB RAM and 10 Mbps coax. Delimiter-separated ASCII allowed O(1) streaming directly into C buffers over raw TCP sockets without memory bloat.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600">
                <a:solidFill>
                  <a:srgbClr val="C0392B"/>
                </a:solidFill>
              </a:defRPr>
            </a:pPr>
            <a:r>
              <a:t>The 'Z-Segment' Trap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Non-Standard Custom Extensions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HL7 v2 was so loosely specified that vendors added proprietary custom segments (ZBE, ZPD, ZAL). A message from Hospital A could not be parsed by Hospital B without bespoke translation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600">
                <a:solidFill>
                  <a:srgbClr val="1B3E24"/>
                </a:solidFill>
              </a:defRPr>
            </a:pPr>
            <a:r>
              <a:t>The Modern Debt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Point-to-Point Socket Piping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HL7 v2 runs over MLLP (raw TCP sockets). There are no URLs, no HTTP status codes, no authentication standards, and no query capabilities. Required costly interface engines (Mirth, Cloverleaf).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2003: The Cautionary Tale of HL7 Version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The mathematically 'perfect' XML standard that software engineers completely rejected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b="1" sz="1100">
                <a:solidFill>
                  <a:srgbClr val="C0392B"/>
                </a:solidFill>
              </a:defRPr>
            </a:pPr>
            <a:r>
              <a:t>THE DANGERS OF OVER-ENGINEERING</a:t>
            </a:r>
          </a:p>
          <a:p>
            <a:pPr>
              <a:spcBef>
                <a:spcPts val="600"/>
              </a:spcBef>
              <a:defRPr b="1" sz="2000">
                <a:solidFill>
                  <a:srgbClr val="1B3E24"/>
                </a:solidFill>
              </a:defRPr>
            </a:pPr>
            <a:r>
              <a:t>How Abstract Modeling Alienated Real-World Developers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Reference Information Model (RIM): </a:t>
            </a:r>
            <a:r>
              <a:rPr b="0">
                <a:solidFill>
                  <a:srgbClr val="526458"/>
                </a:solidFill>
              </a:rPr>
              <a:t>HL7 attempted to create an all-encompassing, mathematically pure object-oriented model of all medicine. Everything was modeled as an Act, Entity, or Role.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Massive XML Overhead: </a:t>
            </a:r>
            <a:r>
              <a:rPr b="0">
                <a:solidFill>
                  <a:srgbClr val="526458"/>
                </a:solidFill>
              </a:rPr>
              <a:t>A simple patient temperature reading required thousands of lines of deeply nested XML tags, schemas, and abstract classes. Parsing was agonizingly slow on 2003 hardware.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Developer Rebellion: </a:t>
            </a:r>
            <a:r>
              <a:rPr b="0">
                <a:solidFill>
                  <a:srgbClr val="526458"/>
                </a:solidFill>
              </a:rPr>
              <a:t>Software engineers refused to adopt it. It was too difficult to learn and implement without multimillion-dollar consulting contracts. Hospitals stuck with HL7 v2, cementing v3 as a famous software failure.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Engineering Lesson: </a:t>
            </a:r>
            <a:r>
              <a:rPr b="0">
                <a:solidFill>
                  <a:srgbClr val="526458"/>
                </a:solidFill>
              </a:rPr>
              <a:t>In computing, pragmatic, developer-friendly designs always beat theoretically 'pure' but unusable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2014–Today: Enter HL7 FHIR (Built for the 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Grahame Grieve redesigns healthcare data around HTTP REST, JSON, and web standards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94BA33"/>
                </a:solidFill>
              </a:defRPr>
            </a:pPr>
            <a:r>
              <a:t>Web-Native Standards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HTTP, REST &amp; JSON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Built entirely on modern internet protocols. Developers query standard URLs (GET /Patient/P0001) and receive clean, human-readable JSON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94BA33"/>
                </a:solidFill>
              </a:defRPr>
            </a:pPr>
            <a:r>
              <a:t>The '80/20 Rule'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Pragmatic Scope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FHIR standardizes only the 80% of data concepts common across all healthcare globally. The remaining 20% edge cases are handled through explicitly validated Extensions.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94BA33"/>
                </a:solidFill>
              </a:defRPr>
            </a:pPr>
            <a:r>
              <a:t>Normative Stability</a:t>
            </a:r>
          </a:p>
          <a:p>
            <a:pPr>
              <a:spcBef>
                <a:spcPts val="400"/>
              </a:spcBef>
              <a:defRPr b="1" sz="1200">
                <a:solidFill>
                  <a:srgbClr val="1B3E24"/>
                </a:solidFill>
              </a:defRPr>
            </a:pPr>
            <a:r>
              <a:t>FHIR R4 (2019)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In 2019, FHIR Release 4 achieved Normative status. Core resources (Patient, Observation, Condition) are frozen with guaranteed permanent backwards compatibility.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Core FHIR Architecture: Resources, References &amp;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Modular clinical building blocks interconnected by unambiguous logical references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400">
                <a:solidFill>
                  <a:srgbClr val="1B3E24"/>
                </a:solidFill>
              </a:defRPr>
            </a:pPr>
            <a:r>
              <a:t>Patient Resource</a:t>
            </a:r>
          </a:p>
          <a:p>
            <a:pPr>
              <a:spcBef>
                <a:spcPts val="200"/>
              </a:spcBef>
              <a:defRPr b="1" sz="1100">
                <a:solidFill>
                  <a:srgbClr val="1B3E24"/>
                </a:solidFill>
              </a:defRPr>
            </a:pPr>
            <a:r>
              <a:t>Demographics &amp; Master ID</a:t>
            </a:r>
          </a:p>
          <a:p>
            <a:pPr>
              <a:spcBef>
                <a:spcPts val="600"/>
              </a:spcBef>
              <a:defRPr sz="1000">
                <a:solidFill>
                  <a:srgbClr val="142118"/>
                </a:solidFill>
              </a:defRPr>
            </a:pPr>
            <a:r>
              <a:t>The root subject. Contains biological sex, birthdate, identifier MRN, and contact info. Every clinical observation links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400">
                <a:solidFill>
                  <a:srgbClr val="285C36"/>
                </a:solidFill>
              </a:defRPr>
            </a:pPr>
            <a:r>
              <a:t>Observation Resource</a:t>
            </a:r>
          </a:p>
          <a:p>
            <a:pPr>
              <a:spcBef>
                <a:spcPts val="200"/>
              </a:spcBef>
              <a:defRPr b="1" sz="1100">
                <a:solidFill>
                  <a:srgbClr val="1B3E24"/>
                </a:solidFill>
              </a:defRPr>
            </a:pPr>
            <a:r>
              <a:t>Measurements &amp; Vitals</a:t>
            </a:r>
          </a:p>
          <a:p>
            <a:pPr>
              <a:spcBef>
                <a:spcPts val="600"/>
              </a:spcBef>
              <a:defRPr sz="1000">
                <a:solidFill>
                  <a:srgbClr val="142118"/>
                </a:solidFill>
              </a:defRPr>
            </a:pPr>
            <a:r>
              <a:t>Clinical measurements: lab tests, vital signs, biopsy metrics. Contains coded LOINC tag, timestamp, and numeric value with UCUM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400">
                <a:solidFill>
                  <a:srgbClr val="94BA33"/>
                </a:solidFill>
              </a:defRPr>
            </a:pPr>
            <a:r>
              <a:t>Condition Resource</a:t>
            </a:r>
          </a:p>
          <a:p>
            <a:pPr>
              <a:spcBef>
                <a:spcPts val="200"/>
              </a:spcBef>
              <a:defRPr b="1" sz="1100">
                <a:solidFill>
                  <a:srgbClr val="1B3E24"/>
                </a:solidFill>
              </a:defRPr>
            </a:pPr>
            <a:r>
              <a:t>Clinical Diagnoses</a:t>
            </a:r>
          </a:p>
          <a:p>
            <a:pPr>
              <a:spcBef>
                <a:spcPts val="600"/>
              </a:spcBef>
              <a:defRPr sz="1000">
                <a:solidFill>
                  <a:srgbClr val="142118"/>
                </a:solidFill>
              </a:defRPr>
            </a:pPr>
            <a:r>
              <a:t>Active health problems or diagnoses. Links to Patient and contains ICD-10 or SNOMED CT problem codes with clinical status (active/resolved).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400">
                <a:solidFill>
                  <a:srgbClr val="C0392B"/>
                </a:solidFill>
              </a:defRPr>
            </a:pPr>
            <a:r>
              <a:t>Bundle Resource</a:t>
            </a:r>
          </a:p>
          <a:p>
            <a:pPr>
              <a:spcBef>
                <a:spcPts val="200"/>
              </a:spcBef>
              <a:defRPr b="1" sz="1100">
                <a:solidFill>
                  <a:srgbClr val="1B3E24"/>
                </a:solidFill>
              </a:defRPr>
            </a:pPr>
            <a:r>
              <a:t>Packaging Patient Records</a:t>
            </a:r>
          </a:p>
          <a:p>
            <a:pPr>
              <a:spcBef>
                <a:spcPts val="600"/>
              </a:spcBef>
              <a:defRPr sz="1000">
                <a:solidFill>
                  <a:srgbClr val="142118"/>
                </a:solidFill>
              </a:defRPr>
            </a:pPr>
            <a:r>
              <a:t>A container resource holding multiple items. In this afternoon's lab, data/fhir/P0001.json is a Bundle packing 1 Patient, 10 Observations, and 1 Condition.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Coded Vocabularies: The Semantic Glue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FHIR provides the grammatical schema; medical terminologies provide the dictionary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800">
                <a:solidFill>
                  <a:srgbClr val="285C36"/>
                </a:solidFill>
              </a:defRPr>
            </a:pPr>
            <a:r>
              <a:t>LOINC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Logical Observation Identifiers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The universal dictionary for lab assays and measurements.</a:t>
            </a:r>
            <a:br/>
            <a:br/>
            <a:r>
              <a:t>• Code 2339-0: Blood Glucose</a:t>
            </a:r>
            <a:br/>
            <a:r>
              <a:t>• Code 21908-9: Mean Cell Radius</a:t>
            </a:r>
            <a:br/>
            <a:br/>
            <a:r>
              <a:t>Becomes column headers in ML feature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800">
                <a:solidFill>
                  <a:srgbClr val="1B3E24"/>
                </a:solidFill>
              </a:defRPr>
            </a:pPr>
            <a:r>
              <a:t>SNOMED CT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Systematized Nomenclature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The global clinical terminology for findings, body sites, and procedures.</a:t>
            </a:r>
            <a:br/>
            <a:br/>
            <a:r>
              <a:t>• Code 439401001: Raman spectroscopy</a:t>
            </a:r>
            <a:br/>
            <a:r>
              <a:t>• Code 44054006: Ductal carcinoma</a:t>
            </a:r>
            <a:br/>
            <a:br/>
            <a:r>
              <a:t>Defines precise anatomical and procedural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800">
                <a:solidFill>
                  <a:srgbClr val="94BA33"/>
                </a:solidFill>
              </a:defRPr>
            </a:pPr>
            <a:r>
              <a:t>ICD-10 / ICD-11</a:t>
            </a:r>
          </a:p>
          <a:p>
            <a:pPr>
              <a:spcBef>
                <a:spcPts val="400"/>
              </a:spcBef>
              <a:defRPr b="1" sz="1100">
                <a:solidFill>
                  <a:srgbClr val="1B3E24"/>
                </a:solidFill>
              </a:defRPr>
            </a:pPr>
            <a:r>
              <a:t>Disease Classification</a:t>
            </a:r>
          </a:p>
          <a:p>
            <a:pPr>
              <a:spcBef>
                <a:spcPts val="1200"/>
              </a:spcBef>
              <a:defRPr sz="1100">
                <a:solidFill>
                  <a:srgbClr val="142118"/>
                </a:solidFill>
              </a:defRPr>
            </a:pPr>
            <a:r>
              <a:t>The World Health Organization standard for diagnoses and epidemiology.</a:t>
            </a:r>
            <a:br/>
            <a:br/>
            <a:r>
              <a:t>• Code C50.9: Malignant breast tumor</a:t>
            </a:r>
            <a:br/>
            <a:r>
              <a:t>• Code E11.9: Type 2 diabetes</a:t>
            </a:r>
            <a:br/>
            <a:br/>
            <a:r>
              <a:t>Used globally for insurance claims and disease surveillance.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COMPUTER SCIENCE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FHIR, The Semantic Web &amp; KRR (Knowledge Representation)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How FHIR implements W3C Linked Data, RDF Triples, and Description Logic reasoning in production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THE SEMANTIC WEB (W3C LINKED DATA)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URIs &amp; The RDF Knowledge Graph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Universal Resource Identifiers (URIs):</a:t>
            </a:r>
            <a:br/>
            <a:r>
              <a:rPr b="0">
                <a:solidFill>
                  <a:srgbClr val="526458"/>
                </a:solidFill>
              </a:rPr>
              <a:t>Nothing in FHIR is a loose string. Every concept, coding system, and extension is anchored to a globally resolvable URI (e.g. http://loinc.org|2339-0).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RDF Triples in Practice:</a:t>
            </a:r>
            <a:br/>
            <a:r>
              <a:rPr b="0">
                <a:solidFill>
                  <a:srgbClr val="526458"/>
                </a:solidFill>
              </a:rPr>
              <a:t>FHIR references form directed graph triples: Subject (Observation/obs-01) -&gt; Predicate (subject) -&gt; Object (Patient/P0001). Zero duplication; infinite traversal.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W3C RDF/Turtle Standard:</a:t>
            </a:r>
            <a:br/>
            <a:r>
              <a:rPr b="0">
                <a:solidFill>
                  <a:srgbClr val="526458"/>
                </a:solidFill>
              </a:rPr>
              <a:t>HL7 and W3C officially standardized the FHIR RDF specification (fhir/rdf.html). Entire hospital populations can be queried as a unified knowledge graph via SPARQL.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KRR (KNOWLEDGE REPRESENTATION &amp; REASONING)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Description Logics &amp; Automated Deduction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Formal Ontologies (SNOMED CT):</a:t>
            </a:r>
            <a:br/>
            <a:r>
              <a:rPr b="0">
                <a:solidFill>
                  <a:srgbClr val="526458"/>
                </a:solidFill>
              </a:rPr>
              <a:t>SNOMED CT is mathematically structured in Description Logic (the EL++ profile of OWL 2). Concepts possess formal relationships and subsumption hierarchies (Is-A).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Automated Logical Inference:</a:t>
            </a:r>
            <a:br/>
            <a:r>
              <a:rPr b="0">
                <a:solidFill>
                  <a:srgbClr val="526458"/>
                </a:solidFill>
              </a:rPr>
              <a:t>If an AI clinical rule states 'Alert if patient has Respiratory Infection', a reasoner infers that Bacterial Pneumonia is a subclass of Respiratory Infection and fires the alert—even if those words never appear in the chart!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Pragmatic KRR Success:</a:t>
            </a:r>
            <a:br/>
            <a:r>
              <a:rPr b="0">
                <a:solidFill>
                  <a:srgbClr val="526458"/>
                </a:solidFill>
              </a:rPr>
              <a:t>FHIR succeeded where academic Semantic Web stalled: it hid complex Description Logics under clean, friendly JSON REST APIs that web developers love.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1 · HISTORY OF HOSPITAL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Global Adoption: From Federal Law to Thailand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Where FHIR is legally mandated, and the reality of legacy hospital engines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MANDATED BY LAW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United States &amp; Europe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US 21st Century Cures Act:</a:t>
            </a:r>
            <a:br/>
            <a:r>
              <a:rPr b="0">
                <a:solidFill>
                  <a:srgbClr val="526458"/>
                </a:solidFill>
              </a:rPr>
              <a:t>Made clinical 'data blocking' illegal. Certified hospital software MUST expose standardized FHIR APIs (SMART on FHIR). Apple Health connects directly to thousands of US clinics via FHIR.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European Health Data Space (EHDS):</a:t>
            </a:r>
            <a:br/>
            <a:r>
              <a:rPr b="0">
                <a:solidFill>
                  <a:srgbClr val="526458"/>
                </a:solidFill>
              </a:rPr>
              <a:t>Mandates cross-border clinical record exchange across all EU member states using FHIR.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LOCAL &amp; REGIONAL REALITY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Thailand &amp; Legacy Systems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Thailand MOPH Initiatives:</a:t>
            </a:r>
            <a:br/>
            <a:r>
              <a:rPr b="0">
                <a:solidFill>
                  <a:srgbClr val="526458"/>
                </a:solidFill>
              </a:rPr>
              <a:t>The Ministry of Public Health and Thai health-tech agencies are actively implementing FHIR-based Health Information Exchanges (HIE) for national universal coverage digital claims.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Hybrid Reality:</a:t>
            </a:r>
            <a:br/>
            <a:r>
              <a:rPr b="0">
                <a:solidFill>
                  <a:srgbClr val="526458"/>
                </a:solidFill>
              </a:rPr>
              <a:t>Replacing hospital databases costs millions. Many provincial hospitals still run HL7 v2 and MySQL engines; FHIR is deployed as an API Gateway wrapper sitting on 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5486400" cy="41148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2 · CLINICAL DATA MODALITIES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800">
                <a:solidFill>
                  <a:srgbClr val="FFFFFF"/>
                </a:solidFill>
              </a:defRPr>
            </a:pPr>
            <a:r>
              <a:t>The Four Modalities of Health AI</a:t>
            </a:r>
          </a:p>
          <a:p>
            <a:pPr>
              <a:spcBef>
                <a:spcPts val="1200"/>
              </a:spcBef>
              <a:defRPr sz="1700">
                <a:solidFill>
                  <a:srgbClr val="94BA33"/>
                </a:solidFill>
              </a:defRPr>
            </a:pPr>
            <a:r>
              <a:t>From 2D Tabular Feature Matrices to Spatial Tensors, Signal Telemetry, and LLM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10515600" cy="146304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94BA33"/>
                </a:solidFill>
              </a:defRPr>
            </a:pPr>
            <a:r>
              <a:t>Different Math, Different Algorithms:</a:t>
            </a:r>
          </a:p>
          <a:p>
            <a:pPr>
              <a:spcBef>
                <a:spcPts val="400"/>
              </a:spcBef>
              <a:defRPr b="1" sz="1350">
                <a:solidFill>
                  <a:srgbClr val="FFFFFF"/>
                </a:solidFill>
              </a:defRPr>
            </a:pPr>
            <a:r>
              <a:t>There is no single 'Health AI algorithm.' Tabular data requires gradient trees; radiology requires 3D convolution; telemetry requires temporal state spaces; notes require LLMs.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MODALITY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Tabular Data: The Classical Machine Learning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Structured numeric matrices powering clinical risk stratification and lab assays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DATA REPRESENTATION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2D Matrices: X in R^{N x D}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Clinical Sources: </a:t>
            </a:r>
            <a:r>
              <a:rPr b="0">
                <a:solidFill>
                  <a:srgbClr val="526458"/>
                </a:solidFill>
              </a:rPr>
              <a:t>Automated lab panels (glucose, creatinine), vital signs, cell morphometry from biopsies, and patient demographics.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Mathematical Structure: </a:t>
            </a:r>
            <a:r>
              <a:rPr b="0">
                <a:solidFill>
                  <a:srgbClr val="526458"/>
                </a:solidFill>
              </a:rPr>
              <a:t>A rectangular table of N patients (rows) by D features (columns). Targets y in {0, 1}.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Strict Requirements: </a:t>
            </a:r>
            <a:r>
              <a:rPr b="0">
                <a:solidFill>
                  <a:srgbClr val="526458"/>
                </a:solidFill>
              </a:rPr>
              <a:t>Every cell must be a valid float. Algorithms cannot handle raw nested JSON or string codes without preprocessing.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ALGORITHMS &amp; WORKSHOP LINK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Afternoon Workshop Focus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Core Models: </a:t>
            </a:r>
            <a:r>
              <a:rPr b="0">
                <a:solidFill>
                  <a:srgbClr val="526458"/>
                </a:solidFill>
              </a:rPr>
              <a:t>Logistic Regression, Random Forests, XGBoost, and k-Means Clustering.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Step 1 (Flatten FHIR): </a:t>
            </a:r>
            <a:r>
              <a:rPr b="0">
                <a:solidFill>
                  <a:srgbClr val="526458"/>
                </a:solidFill>
              </a:rPr>
              <a:t>In scripts/01_fhir_to_table.py, we parse real FHIR bundles and extract LOINC observations into tabular columns.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Step 3 (Train Pipelines): </a:t>
            </a:r>
            <a:r>
              <a:rPr b="0">
                <a:solidFill>
                  <a:srgbClr val="526458"/>
                </a:solidFill>
              </a:rPr>
              <a:t>We fit Logistic Regression and Random Forest models to predict malignancy from 30 cell nucleus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MODALITY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Spatial &amp; Imaging Data: Computer Vision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Radiographs, 3D CT/MRI scans, and gigapixel histology whole-slide images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HIGH-DIMENSIONAL SPATIAL TENSORS</a:t>
            </a:r>
          </a:p>
          <a:p>
            <a:pPr>
              <a:spcBef>
                <a:spcPts val="600"/>
              </a:spcBef>
              <a:defRPr b="1" sz="2000">
                <a:solidFill>
                  <a:srgbClr val="1B3E24"/>
                </a:solidFill>
              </a:defRPr>
            </a:pPr>
            <a:r>
              <a:t>From 2D X-Rays to 3D/4D Volumetric Tensors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The DICOM Standard: </a:t>
            </a:r>
            <a:r>
              <a:rPr b="0">
                <a:solidFill>
                  <a:srgbClr val="526458"/>
                </a:solidFill>
              </a:rPr>
              <a:t>Medical images are not simple JPEGs. They are DICOM files storing calibrated pixel arrays alongside spatial metadata (slice thickness, magnetic field strength, patient positioning).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Mathematical Format: </a:t>
            </a:r>
            <a:r>
              <a:rPr b="0">
                <a:solidFill>
                  <a:srgbClr val="526458"/>
                </a:solidFill>
              </a:rPr>
              <a:t>Tensors in R^{C x D x H x W} where C = Channels/Sequences, D = Depth/Slices, H, W = Image dimensions. Whole Slide Images (WSI) reach 100,000 x 100,000 pixels.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AI Architectures: </a:t>
            </a:r>
            <a:r>
              <a:rPr b="0">
                <a:solidFill>
                  <a:srgbClr val="526458"/>
                </a:solidFill>
              </a:rPr>
              <a:t>Convolutional Neural Networks (ResNet, EfficientNet), Vision Transformers (ViT), and U-Net encoder-decoder models for anatomical tumor segmentation.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Clinical Challenge: </a:t>
            </a:r>
            <a:r>
              <a:rPr b="0">
                <a:solidFill>
                  <a:srgbClr val="526458"/>
                </a:solidFill>
              </a:rPr>
              <a:t>Multi-gigabyte file sizes, spatial resolution vs compute memory trade-offs, and requirement for expert radiologist pixel-level annotations.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MODALITY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Time-Series &amp; Telemetry: Continuous Physiological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High-frequency sensor waveforms from ICU monitors, ECG leads, and wearable devices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SEQUENTIAL TEMPORAL SIGNALS</a:t>
            </a:r>
          </a:p>
          <a:p>
            <a:pPr>
              <a:spcBef>
                <a:spcPts val="600"/>
              </a:spcBef>
              <a:defRPr b="1" sz="2000">
                <a:solidFill>
                  <a:srgbClr val="1B3E24"/>
                </a:solidFill>
              </a:defRPr>
            </a:pPr>
            <a:r>
              <a:t>Streaming Signals at 250 Hz to 1 Sample/Hour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Clinical Telemetry Streams: </a:t>
            </a:r>
            <a:r>
              <a:rPr b="0">
                <a:solidFill>
                  <a:srgbClr val="526458"/>
                </a:solidFill>
              </a:rPr>
              <a:t>12-lead Electrocardiography (ECG), continuous arterial blood pressure in ICUs, pulse oximetry (PPG), and Continuous Glucose Monitors (CGM).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Mathematical Representation: </a:t>
            </a:r>
            <a:r>
              <a:rPr b="0">
                <a:solidFill>
                  <a:srgbClr val="526458"/>
                </a:solidFill>
              </a:rPr>
              <a:t>1D sequential arrays x(t) sampled at high frequency. Processed via sliding windows, Fast Fourier Transforms (FFT), or Continuous Wavelet Transforms.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Algorithms: </a:t>
            </a:r>
            <a:r>
              <a:rPr b="0">
                <a:solidFill>
                  <a:srgbClr val="526458"/>
                </a:solidFill>
              </a:rPr>
              <a:t>Recurrent Neural Networks (LSTMs), 1D Temporal Convolutional Networks (TCN), and modern State Space Models (Mamba) for predicting acute sepsis 6 hours in advance.</a:t>
            </a:r>
          </a:p>
          <a:p>
            <a:pPr>
              <a:spcBef>
                <a:spcPts val="1000"/>
              </a:spcBef>
              <a:defRPr b="1" sz="1150">
                <a:solidFill>
                  <a:srgbClr val="142118"/>
                </a:solidFill>
              </a:defRPr>
            </a:pPr>
            <a:r>
              <a:t>• Engineering Reality: </a:t>
            </a:r>
            <a:r>
              <a:rPr b="0">
                <a:solidFill>
                  <a:srgbClr val="526458"/>
                </a:solidFill>
              </a:rPr>
              <a:t>Sensor motion artifacts, loose electrodes, and non-stationary baseline drift require heavy digital signal processing before ML.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MODALITY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Unstructured Text: What 90% of People Mean by 'AI'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Physician progress notes, discharge summaries, operative logs, and clinical LLMs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THE UNSTRUCTURED MAJORITY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80% of Health Data Lives in Text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Clinical Narratives: </a:t>
            </a:r>
            <a:r>
              <a:rPr b="0">
                <a:solidFill>
                  <a:srgbClr val="526458"/>
                </a:solidFill>
              </a:rPr>
              <a:t>Doctors do not fill out structured dropdown forms; they write narrative stories explaining clinical reasoning, nuance, and history.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Complex Medical Jargon: </a:t>
            </a:r>
            <a:r>
              <a:rPr b="0">
                <a:solidFill>
                  <a:srgbClr val="526458"/>
                </a:solidFill>
              </a:rPr>
              <a:t>Heavy abbreviations ('sob' = shortness of breath, not an insult!), medical shorthand, and typos make rule-based parsers fail.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Rich Hidden Signal: </a:t>
            </a:r>
            <a:r>
              <a:rPr b="0">
                <a:solidFill>
                  <a:srgbClr val="526458"/>
                </a:solidFill>
              </a:rPr>
              <a:t>Social determinants of health (living alone, smoking history) are only documented in free-text clinical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THE GENAI PARADIGM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Clinical LLMs &amp; Copilots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Medical Foundation Models: </a:t>
            </a:r>
            <a:r>
              <a:rPr b="0">
                <a:solidFill>
                  <a:srgbClr val="526458"/>
                </a:solidFill>
              </a:rPr>
              <a:t>Specialized models (Med-PaLM 2, BioGPT, ClinicalBERT) trained on medical literature and clinical corpora.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Ambient Clinical Scribing: </a:t>
            </a:r>
            <a:r>
              <a:rPr b="0">
                <a:solidFill>
                  <a:srgbClr val="526458"/>
                </a:solidFill>
              </a:rPr>
              <a:t>Microphones listen to doctor-patient conversation in real time and automatically draft the clinical note into the EHR.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Clinical Question Answering: </a:t>
            </a:r>
            <a:r>
              <a:rPr b="0">
                <a:solidFill>
                  <a:srgbClr val="526458"/>
                </a:solidFill>
              </a:rPr>
              <a:t>Synthesizing complex multi-year patient records into concise diagnostic briefings for busy clinicians.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LLMS &amp;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Formatting Dilemma: Why LLMs Choke on Raw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Nested JSON metadata dilutes clinical signal; Markdown tables provide the cure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C0392B"/>
                </a:solidFill>
              </a:defRPr>
            </a:pPr>
            <a:r>
              <a:t>THE RAW JSON TRAP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Token Bloat &amp; Hallucination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Severe Token Overhead: </a:t>
            </a:r>
            <a:r>
              <a:rPr b="0">
                <a:solidFill>
                  <a:srgbClr val="526458"/>
                </a:solidFill>
              </a:rPr>
              <a:t>A single FHIR Observation consumes 300–500 tokens of nested boilerplate (resourceType, meta, system, coding). A patient chart burns 50,000+ tokens!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Diluted Clinical Signal: </a:t>
            </a:r>
            <a:r>
              <a:rPr b="0">
                <a:solidFill>
                  <a:srgbClr val="526458"/>
                </a:solidFill>
              </a:rPr>
              <a:t>The critical clinical number ('Glucose: 118') is buried inside hundreds of curly braces, degrading LLM attention.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Hallucination Risk: </a:t>
            </a:r>
            <a:r>
              <a:rPr b="0">
                <a:solidFill>
                  <a:srgbClr val="526458"/>
                </a:solidFill>
              </a:rPr>
              <a:t>High token boilerplate increases the probability that an LLM misassociates a test value with the wrong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THE MODERN SOLUTION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Clean Markdown (.md) Tables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60–75% Token Reduction: </a:t>
            </a:r>
            <a:r>
              <a:rPr b="0">
                <a:solidFill>
                  <a:srgbClr val="526458"/>
                </a:solidFill>
              </a:rPr>
              <a:t>Converting FHIR resources into clean Markdown tables preserves semantic clarity while stripping thousands of redundant JSON lines.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Superior LLM Recall: </a:t>
            </a:r>
            <a:r>
              <a:rPr b="0">
                <a:solidFill>
                  <a:srgbClr val="526458"/>
                </a:solidFill>
              </a:rPr>
              <a:t>Foundation models are pre-trained heavily on Markdown tables and bulleted text, leading to faster inference and zero syntactic hallucinations.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Clean Architecture: </a:t>
            </a:r>
            <a:r>
              <a:rPr b="0">
                <a:solidFill>
                  <a:srgbClr val="526458"/>
                </a:solidFill>
              </a:rPr>
              <a:t>FHIR remains the backend database protocol; Markdown is the token-efficient presentation layer for LLM prompts.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Clinical AI Agents: RAG &amp; 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Moving from passive chatbots to autonomous clinical copilots with deterministic tools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KNOWLEDGE RETRIEVAL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Clinical RAG &amp; Vector DBs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Semantic Embeddings: </a:t>
            </a:r>
            <a:r>
              <a:rPr b="0">
                <a:solidFill>
                  <a:srgbClr val="526458"/>
                </a:solidFill>
              </a:rPr>
              <a:t>Clinical narrative notes and medical guidelines are chunked and converted into vector embeddings via clinical embedding models.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Vector Databases: </a:t>
            </a:r>
            <a:r>
              <a:rPr b="0">
                <a:solidFill>
                  <a:srgbClr val="526458"/>
                </a:solidFill>
              </a:rPr>
              <a:t>Stored in high-speed vector stores (pgvector, Chroma, Pinecone) for sub-millisecond similarity search.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Grounded Answers: </a:t>
            </a:r>
            <a:r>
              <a:rPr b="0">
                <a:solidFill>
                  <a:srgbClr val="526458"/>
                </a:solidFill>
              </a:rPr>
              <a:t>When an agent answers a question, it retrieves the top-3 most relevant patient notes and clinical trial guidelines to prevent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DETERMINISTIC ACTION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Model Context Protocol (MCP)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Tool-Calling Paradigm: </a:t>
            </a:r>
            <a:r>
              <a:rPr b="0">
                <a:solidFill>
                  <a:srgbClr val="526458"/>
                </a:solidFill>
              </a:rPr>
              <a:t>Agents do not guess; they invoke structured tools: get_patient_labs(patient_id='P0001', code='2339-0').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Scoped &amp; Auditable: </a:t>
            </a:r>
            <a:r>
              <a:rPr b="0">
                <a:solidFill>
                  <a:srgbClr val="526458"/>
                </a:solidFill>
              </a:rPr>
              <a:t>Every action an agent takes is logged, authenticated, and constrained by role-based access control.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Future Standard: </a:t>
            </a:r>
            <a:r>
              <a:rPr b="0">
                <a:solidFill>
                  <a:srgbClr val="526458"/>
                </a:solidFill>
              </a:rPr>
              <a:t>MCP provides the open protocol for connecting AI agents to hospital databases and diagnostic instruments safely.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The Fundamental Data Impedance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Why machine learning frameworks cannot directly ingest clinical FHIR standards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HOW HOSPITALS STORE DATA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Hierarchical Clinical Events (FHIR)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Data Structure:</a:t>
            </a:r>
            <a:br/>
            <a:r>
              <a:rPr b="0">
                <a:solidFill>
                  <a:srgbClr val="526458"/>
                </a:solidFill>
              </a:rPr>
              <a:t>Deeply nested JSON resource trees linked by logical URIs and references.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Temporal Characteristics:</a:t>
            </a:r>
            <a:br/>
            <a:r>
              <a:rPr b="0">
                <a:solidFill>
                  <a:srgbClr val="526458"/>
                </a:solidFill>
              </a:rPr>
              <a:t>Variable-length event histories over months or years. Irregular sampling intervals.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Heterogeneity:</a:t>
            </a:r>
            <a:br/>
            <a:r>
              <a:rPr b="0">
                <a:solidFill>
                  <a:srgbClr val="526458"/>
                </a:solidFill>
              </a:rPr>
              <a:t>Mix of coded observations, narrative clinical notes, and multi-value panels.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WHAT MACHINE LEARNING REQUIRES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2D Numerical Feature Matrices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Data Structure:</a:t>
            </a:r>
            <a:br/>
            <a:r>
              <a:rPr b="0">
                <a:solidFill>
                  <a:srgbClr val="526458"/>
                </a:solidFill>
              </a:rPr>
              <a:t>Rigid 2D arrays: Feature matrix X in R^{N x D} and target label vector y in {0, 1}.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Strict Demands:</a:t>
            </a:r>
            <a:br/>
            <a:r>
              <a:rPr b="0">
                <a:solidFill>
                  <a:srgbClr val="526458"/>
                </a:solidFill>
              </a:rPr>
              <a:t>Every patient must have exactly D columns. Algorithms like Logistic Regression cannot handle raw JSON.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Workshop Core:</a:t>
            </a:r>
            <a:br/>
            <a:r>
              <a:rPr b="0">
                <a:solidFill>
                  <a:srgbClr val="526458"/>
                </a:solidFill>
              </a:rPr>
              <a:t>Step 1 this afternoon (scripts/01_fhir_to_table.py) is the bridge that turns hierarchical FHIR into flat tabular features!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DATA REALITIES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Clinical Realities: Informative Missingness &amp;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Healthcare data is not sampled at random; absence of evidence is clinical information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C0392B"/>
                </a:solidFill>
              </a:defRPr>
            </a:pPr>
            <a:r>
              <a:t>DATA QUALITY REALITY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Informative Missingness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Tests Ordered for Sick Patients:</a:t>
            </a:r>
            <a:br/>
            <a:r>
              <a:rPr b="0">
                <a:solidFill>
                  <a:srgbClr val="526458"/>
                </a:solidFill>
              </a:rPr>
              <a:t>In sensors, missing data is hardware loss. In medicine, a troponin test or biopsy is ordered because disease is suspected! Healthy patients lack tests because they are healthy.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Imputation Trap:</a:t>
            </a:r>
            <a:br/>
            <a:r>
              <a:rPr b="0">
                <a:solidFill>
                  <a:srgbClr val="526458"/>
                </a:solidFill>
              </a:rPr>
              <a:t>Imputing missing values with population mean assigns sick values to healthy people. Must be handled deliberately via SimpleImputer inside cross-validation folds.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EVALUATION PITFALL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Class Imbalance (63% Trap)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Baseline Illusion:</a:t>
            </a:r>
            <a:br/>
            <a:r>
              <a:rPr b="0">
                <a:solidFill>
                  <a:srgbClr val="526458"/>
                </a:solidFill>
              </a:rPr>
              <a:t>In cancer screening, 63% (or 95%) of patients are benign. A dummy model predicting 'benign' every time achieves 63% accuracy while failing 100% of cancer cases!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Metric Requirements:</a:t>
            </a:r>
            <a:br/>
            <a:r>
              <a:rPr b="0">
                <a:solidFill>
                  <a:srgbClr val="526458"/>
                </a:solidFill>
              </a:rPr>
              <a:t>Accuracy is dangerous. We evaluate models using Recall (Sensitivity), ROC-AUC, and tune the classification threshold deliberately.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2 · FUTURE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Towards AI-Native Health Data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The emerging Dual-Stack Architecture uniting legal compliance and continuous learning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THE THREE ERAS OF HEALTH DATA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From Sockets to Autonomous AI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Era 1: 1989–2011 (Local Machines):</a:t>
            </a:r>
            <a:br/>
            <a:r>
              <a:rPr b="0">
                <a:solidFill>
                  <a:srgbClr val="526458"/>
                </a:solidFill>
              </a:rPr>
              <a:t>HL7 v2: Pipe-delimited ASCII strings over TCP sockets for local hospital LANs.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Era 2: 2014–2025 (Web &amp; Mobile):</a:t>
            </a:r>
            <a:br/>
            <a:r>
              <a:rPr b="0">
                <a:solidFill>
                  <a:srgbClr val="526458"/>
                </a:solidFill>
              </a:rPr>
              <a:t>HL7 FHIR: JSON REST APIs and web standards for apps, clinicians, and portals.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Era 3: 2026+ (Artificial Intelligence):</a:t>
            </a:r>
            <a:br/>
            <a:r>
              <a:rPr b="0">
                <a:solidFill>
                  <a:srgbClr val="526458"/>
                </a:solidFill>
              </a:rPr>
              <a:t>AI-Native Stack: Vector embeddings, token-optimized Markdown, and Agentic MCP tool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THE DUAL-STACK SOLUTION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Record Layer + Intelligence Layer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Layer A · System of Record (FHIR):</a:t>
            </a:r>
            <a:br/>
            <a:r>
              <a:rPr b="0">
                <a:solidFill>
                  <a:srgbClr val="526458"/>
                </a:solidFill>
              </a:rPr>
              <a:t>FHIR remains the authoritative, legally audited, and human-verified patient ledger for billing, medication safety, and clinical charts.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Layer B · System of Intelligence (AI Store):</a:t>
            </a:r>
            <a:br/>
            <a:r>
              <a:rPr b="0">
                <a:solidFill>
                  <a:srgbClr val="526458"/>
                </a:solidFill>
              </a:rPr>
              <a:t>High-performance vector stores and feature stores (e.g. Feast, pgvector) continuously ingest FHIR streams, serving ML models and LLM agents in milliseconds.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Health MCP Protocol Standard:</a:t>
            </a:r>
            <a:br/>
            <a:r>
              <a:rPr b="0">
                <a:solidFill>
                  <a:srgbClr val="526458"/>
                </a:solidFill>
              </a:rPr>
              <a:t>Standardizing tool schemas so any clinical AI agent can query and propose treatment orders across any hospital safely.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5669280" cy="41148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+1 · AIT RESEARCH IN ACTION (CHAKLAM'S SPOTLIGHT)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800">
                <a:solidFill>
                  <a:srgbClr val="FFFFFF"/>
                </a:solidFill>
              </a:defRPr>
            </a:pPr>
            <a:r>
              <a:t>Telehealth &amp; Assistive Systems</a:t>
            </a:r>
          </a:p>
          <a:p>
            <a:pPr>
              <a:spcBef>
                <a:spcPts val="1200"/>
              </a:spcBef>
              <a:defRPr sz="1700">
                <a:solidFill>
                  <a:srgbClr val="94BA33"/>
                </a:solidFill>
              </a:defRPr>
            </a:pPr>
            <a:r>
              <a:t>Monitoring and Assistive Systems for Elderly and Disabled People — Prof. Chaklam Silpasuwanchai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10515600" cy="1463040"/>
          </a:xfrm>
          <a:prstGeom prst="roundRect">
            <a:avLst/>
          </a:prstGeom>
          <a:solidFill>
            <a:srgbClr val="28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94BA33"/>
                </a:solidFill>
              </a:defRPr>
            </a:pPr>
            <a:r>
              <a:t>Grounding Theory in Real AIT Systems Engineering:</a:t>
            </a:r>
          </a:p>
          <a:p>
            <a:pPr>
              <a:spcBef>
                <a:spcPts val="400"/>
              </a:spcBef>
              <a:defRPr b="1" sz="1350">
                <a:solidFill>
                  <a:srgbClr val="FFFFFF"/>
                </a:solidFill>
              </a:defRPr>
            </a:pPr>
            <a:r>
              <a:t>Connecting optical Raman laser sensors, computer vision telemetry, and haptic rehabilitation robotics to global clinical standards and FHIR microservices.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+1 · AIT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AIT Telehealth Project: Four Work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Bridging physical sensor engineering, edge robotics, and secure clinical cloud platforms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050">
                <a:solidFill>
                  <a:srgbClr val="94BA33"/>
                </a:solidFill>
              </a:defRPr>
            </a:pPr>
            <a:r>
              <a:t>WP1: Optical Glucose Sensing</a:t>
            </a:r>
          </a:p>
          <a:p>
            <a:pPr>
              <a:spcBef>
                <a:spcPts val="400"/>
              </a:spcBef>
              <a:defRPr b="1" sz="1300">
                <a:solidFill>
                  <a:srgbClr val="1B3E24"/>
                </a:solidFill>
              </a:defRPr>
            </a:pPr>
            <a:r>
              <a:t>Non-Invasive Raman Sensor</a:t>
            </a:r>
          </a:p>
          <a:p>
            <a:pPr>
              <a:spcBef>
                <a:spcPts val="800"/>
              </a:spcBef>
              <a:defRPr sz="1050">
                <a:solidFill>
                  <a:srgbClr val="142118"/>
                </a:solidFill>
              </a:defRPr>
            </a:pPr>
            <a:r>
              <a:t>Measures blood glucose without skin pricks using 785nm optical Raman laser spectroscopy.</a:t>
            </a:r>
          </a:p>
          <a:p>
            <a:pPr>
              <a:spcBef>
                <a:spcPts val="1000"/>
              </a:spcBef>
              <a:defRPr sz="950">
                <a:solidFill>
                  <a:srgbClr val="526458"/>
                </a:solidFill>
              </a:defRPr>
            </a:pPr>
            <a:r>
              <a:t>POC App: github.com/akraradets/BloodGlucose-App</a:t>
            </a:r>
            <a:br/>
            <a:r>
              <a:t>Edge ML calibration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050">
                <a:solidFill>
                  <a:srgbClr val="285C36"/>
                </a:solidFill>
              </a:defRPr>
            </a:pPr>
            <a:r>
              <a:t>WP2: Activity &amp; Fall Telemetry</a:t>
            </a:r>
          </a:p>
          <a:p>
            <a:pPr>
              <a:spcBef>
                <a:spcPts val="400"/>
              </a:spcBef>
              <a:defRPr b="1" sz="1300">
                <a:solidFill>
                  <a:srgbClr val="1B3E24"/>
                </a:solidFill>
              </a:defRPr>
            </a:pPr>
            <a:r>
              <a:t>Computer Vision &amp; Wi-Fi CSI</a:t>
            </a:r>
          </a:p>
          <a:p>
            <a:pPr>
              <a:spcBef>
                <a:spcPts val="800"/>
              </a:spcBef>
              <a:defRPr sz="1050">
                <a:solidFill>
                  <a:srgbClr val="142118"/>
                </a:solidFill>
              </a:defRPr>
            </a:pPr>
            <a:r>
              <a:t>Monitors elderly mobility and detects falls in real time using privacy-preserving camera feeds and Wi-Fi disturbance.</a:t>
            </a:r>
          </a:p>
          <a:p>
            <a:pPr>
              <a:spcBef>
                <a:spcPts val="1000"/>
              </a:spcBef>
              <a:defRPr sz="950">
                <a:solidFill>
                  <a:srgbClr val="526458"/>
                </a:solidFill>
              </a:defRPr>
            </a:pPr>
            <a:r>
              <a:t>Continuous spatial &amp; time-series AI</a:t>
            </a:r>
            <a:br/>
            <a:r>
              <a:t>Edge inference on embedded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050">
                <a:solidFill>
                  <a:srgbClr val="1B3E24"/>
                </a:solidFill>
              </a:defRPr>
            </a:pPr>
            <a:r>
              <a:t>WP3: Remote Haptic Therapy</a:t>
            </a:r>
          </a:p>
          <a:p>
            <a:pPr>
              <a:spcBef>
                <a:spcPts val="400"/>
              </a:spcBef>
              <a:defRPr b="1" sz="1300">
                <a:solidFill>
                  <a:srgbClr val="1B3E24"/>
                </a:solidFill>
              </a:defRPr>
            </a:pPr>
            <a:r>
              <a:t>Robotic Physical Rehabilitation</a:t>
            </a:r>
          </a:p>
          <a:p>
            <a:pPr>
              <a:spcBef>
                <a:spcPts val="800"/>
              </a:spcBef>
              <a:defRPr sz="1050">
                <a:solidFill>
                  <a:srgbClr val="142118"/>
                </a:solidFill>
              </a:defRPr>
            </a:pPr>
            <a:r>
              <a:t>Upper-limb rehabilitation device providing programmable force-feedback for stroke patient recovery.</a:t>
            </a:r>
          </a:p>
          <a:p>
            <a:pPr>
              <a:spcBef>
                <a:spcPts val="1000"/>
              </a:spcBef>
              <a:defRPr sz="950">
                <a:solidFill>
                  <a:srgbClr val="526458"/>
                </a:solidFill>
              </a:defRPr>
            </a:pPr>
            <a:r>
              <a:t>Bi-directional physical telemetry</a:t>
            </a:r>
            <a:br/>
            <a:r>
              <a:t>Remote clinician tele-operation.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050">
                <a:solidFill>
                  <a:srgbClr val="C0392B"/>
                </a:solidFill>
              </a:defRPr>
            </a:pPr>
            <a:r>
              <a:t>WP4: Cloud Telehealth Platform</a:t>
            </a:r>
          </a:p>
          <a:p>
            <a:pPr>
              <a:spcBef>
                <a:spcPts val="400"/>
              </a:spcBef>
              <a:defRPr b="1" sz="1300">
                <a:solidFill>
                  <a:srgbClr val="1B3E24"/>
                </a:solidFill>
              </a:defRPr>
            </a:pPr>
            <a:r>
              <a:t>Secure FHIR Integration</a:t>
            </a:r>
          </a:p>
          <a:p>
            <a:pPr>
              <a:spcBef>
                <a:spcPts val="800"/>
              </a:spcBef>
              <a:defRPr sz="1050">
                <a:solidFill>
                  <a:srgbClr val="142118"/>
                </a:solidFill>
              </a:defRPr>
            </a:pPr>
            <a:r>
              <a:t>Consolidates telemetry from WP1–WP3 into an encrypted cloud backend for clinician review.</a:t>
            </a:r>
          </a:p>
          <a:p>
            <a:pPr>
              <a:spcBef>
                <a:spcPts val="1000"/>
              </a:spcBef>
              <a:defRPr sz="950">
                <a:solidFill>
                  <a:srgbClr val="526458"/>
                </a:solidFill>
              </a:defRPr>
            </a:pPr>
            <a:r>
              <a:t>Standardized FHIR R4 resources</a:t>
            </a:r>
            <a:br/>
            <a:r>
              <a:t>Real-time web &amp; mobile dashboards.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+1 · AIT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WP1 Deep Dive: Non-Invasive Glucose via Raman Spectroscopy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Translating raw optical spectra into calibrated physiological biomarkers (BloodGlucose-App)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THE OPTICAL SENSOR PRINCIPLE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Inelastic Photon Scattering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Clinical Need:</a:t>
            </a:r>
            <a:br/>
            <a:r>
              <a:rPr b="0">
                <a:solidFill>
                  <a:srgbClr val="526458"/>
                </a:solidFill>
              </a:rPr>
              <a:t>Diabetic and elderly patients require frequent daily blood checks. Finger-prick lancets cause tissue damage, infection risks, and poor patient compliance.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Raman Spectroscopy:</a:t>
            </a:r>
            <a:br/>
            <a:r>
              <a:rPr b="0">
                <a:solidFill>
                  <a:srgbClr val="526458"/>
                </a:solidFill>
              </a:rPr>
              <a:t>A 785nm near-infrared laser illuminates interstitial fluid. Photons scatter inelastically off glucose molecules, yielding a unique spectral fingerprint around 1125 cm⁻¹.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Mobile POC App:</a:t>
            </a:r>
            <a:br/>
            <a:r>
              <a:rPr b="0">
                <a:solidFill>
                  <a:srgbClr val="526458"/>
                </a:solidFill>
              </a:rPr>
              <a:t>Built at AIT (github.com/akraradets/BloodGlucose-App). Connects over Bluetooth Low Energy (BLE) to the Raman hardware spectrometer.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b="1" sz="1100">
                <a:solidFill>
                  <a:srgbClr val="94BA33"/>
                </a:solidFill>
              </a:defRPr>
            </a:pPr>
            <a:r>
              <a:t>THE MACHINE LEARNING ENGINE</a:t>
            </a:r>
          </a:p>
          <a:p>
            <a:pPr>
              <a:spcBef>
                <a:spcPts val="600"/>
              </a:spcBef>
              <a:defRPr b="1" sz="1800">
                <a:solidFill>
                  <a:srgbClr val="1B3E24"/>
                </a:solidFill>
              </a:defRPr>
            </a:pPr>
            <a:r>
              <a:t>Modality 3 → Modality 1 Mapping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Signal Preprocessing:</a:t>
            </a:r>
            <a:br/>
            <a:r>
              <a:rPr b="0">
                <a:solidFill>
                  <a:srgbClr val="526458"/>
                </a:solidFill>
              </a:rPr>
              <a:t>Raw spectra suffer from skin autofluorescence and dark current noise. Preprocessing uses baseline polynomial subtraction and Standard Normal Variate (SNV) scaling.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Edge Calibration Model:</a:t>
            </a:r>
            <a:br/>
            <a:r>
              <a:rPr b="0">
                <a:solidFill>
                  <a:srgbClr val="526458"/>
                </a:solidFill>
              </a:rPr>
              <a:t>Partial Least Squares (PLS) regression and Random Forests map the continuous 1D spectral curve directly to blood glucose (mg/dL).</a:t>
            </a:r>
          </a:p>
          <a:p>
            <a:pPr>
              <a:spcBef>
                <a:spcPts val="1000"/>
              </a:spcBef>
              <a:defRPr b="1" sz="1100">
                <a:solidFill>
                  <a:srgbClr val="142118"/>
                </a:solidFill>
              </a:defRPr>
            </a:pPr>
            <a:r>
              <a:t>• The Standard Challenge:</a:t>
            </a:r>
            <a:br/>
            <a:r>
              <a:rPr b="0">
                <a:solidFill>
                  <a:srgbClr val="526458"/>
                </a:solidFill>
              </a:rPr>
              <a:t>Once the phone calculates '118 mg/dL', how do we push it to a hospital EHR without losing context? We serialize it to FHIR!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PHASE +1 · AIT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Closing the Circuit: Mapping AIT Raman Readings into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How physical sensor telemetry becomes a globally interoperable clinical resource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43891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100">
                <a:solidFill>
                  <a:srgbClr val="285C36"/>
                </a:solidFill>
              </a:defRPr>
            </a:pPr>
            <a:r>
              <a:t>STANDARDS HARMONIZATION</a:t>
            </a:r>
          </a:p>
          <a:p>
            <a:pPr>
              <a:spcBef>
                <a:spcPts val="1000"/>
              </a:spcBef>
              <a:defRPr b="1" sz="1100">
                <a:solidFill>
                  <a:srgbClr val="1B3E24"/>
                </a:solidFill>
              </a:defRPr>
            </a:pPr>
            <a:r>
              <a:t>LOINC 2339-0:</a:t>
            </a:r>
            <a:br/>
            <a:r>
              <a:rPr b="0">
                <a:solidFill>
                  <a:srgbClr val="526458"/>
                </a:solidFill>
              </a:rPr>
              <a:t>Standard test code for Glucose [Mass/vol] in Blood. Guarantees that any EHR on Earth recognizes the value as blood sugar.</a:t>
            </a:r>
          </a:p>
          <a:p>
            <a:pPr>
              <a:spcBef>
                <a:spcPts val="1000"/>
              </a:spcBef>
              <a:defRPr b="1" sz="1100">
                <a:solidFill>
                  <a:srgbClr val="1B3E24"/>
                </a:solidFill>
              </a:defRPr>
            </a:pPr>
            <a:r>
              <a:t>SNOMED CT 439401001:</a:t>
            </a:r>
            <a:br/>
            <a:r>
              <a:rPr b="0">
                <a:solidFill>
                  <a:srgbClr val="526458"/>
                </a:solidFill>
              </a:rPr>
              <a:t>Identifies the measurement method as In-vivo Raman spectroscopy rather than a laboratory venous blood draw.</a:t>
            </a:r>
          </a:p>
          <a:p>
            <a:pPr>
              <a:spcBef>
                <a:spcPts val="1000"/>
              </a:spcBef>
              <a:defRPr b="1" sz="1100">
                <a:solidFill>
                  <a:srgbClr val="1B3E24"/>
                </a:solidFill>
              </a:defRPr>
            </a:pPr>
            <a:r>
              <a:t>UCUM Units (mg/dL):</a:t>
            </a:r>
            <a:br/>
            <a:r>
              <a:rPr b="0">
                <a:solidFill>
                  <a:srgbClr val="526458"/>
                </a:solidFill>
              </a:rPr>
              <a:t>Explicit unit coding eliminates fatal confusion between US (mg/dL) and European/Thai (mmol/L)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828800"/>
            <a:ext cx="6035040" cy="4389120"/>
          </a:xfrm>
          <a:prstGeom prst="roundRect">
            <a:avLst/>
          </a:prstGeom>
          <a:solidFill>
            <a:srgbClr val="13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050">
                <a:solidFill>
                  <a:srgbClr val="94BA33"/>
                </a:solidFill>
                <a:latin typeface="Courier New"/>
              </a:defRPr>
            </a:pPr>
            <a:r>
              <a:t>// AIT WP1 Raman Glucose in FHIR R4 JSON</a:t>
            </a:r>
          </a:p>
          <a:p>
            <a:pPr>
              <a:spcBef>
                <a:spcPts val="400"/>
              </a:spcBef>
              <a:defRPr sz="900">
                <a:solidFill>
                  <a:srgbClr val="A6E22E"/>
                </a:solidFill>
                <a:latin typeface="Courier New"/>
              </a:defRPr>
            </a:pPr>
            <a:r>
              <a:t>{</a:t>
            </a:r>
            <a:br/>
            <a:r>
              <a:t>  "resourceType": "Observation",</a:t>
            </a:r>
            <a:br/>
            <a:r>
              <a:t>  "id": "ait-raman-glucose-001",</a:t>
            </a:r>
            <a:br/>
            <a:r>
              <a:t>  "status": "final",</a:t>
            </a:r>
          </a:p>
          <a:p>
            <a:pPr>
              <a:spcBef>
                <a:spcPts val="400"/>
              </a:spcBef>
              <a:defRPr sz="900">
                <a:solidFill>
                  <a:srgbClr val="A6E22E"/>
                </a:solidFill>
                <a:latin typeface="Courier New"/>
              </a:defRPr>
            </a:pPr>
            <a:r>
              <a:t>  "code": {</a:t>
            </a:r>
            <a:br/>
            <a:r>
              <a:t>    "coding": [{</a:t>
            </a:r>
            <a:br/>
            <a:r>
              <a:t>      "system": "http://loinc.org",</a:t>
            </a:r>
            <a:br/>
            <a:r>
              <a:t>      "code": "2339-0",</a:t>
            </a:r>
            <a:br/>
            <a:r>
              <a:t>      "display": "Glucose [Mass/vol] in Blood"</a:t>
            </a:r>
            <a:br/>
            <a:r>
              <a:t>    }]</a:t>
            </a:r>
            <a:br/>
            <a:r>
              <a:t>  },</a:t>
            </a:r>
          </a:p>
          <a:p>
            <a:pPr>
              <a:spcBef>
                <a:spcPts val="400"/>
              </a:spcBef>
              <a:defRPr sz="900">
                <a:solidFill>
                  <a:srgbClr val="A6E22E"/>
                </a:solidFill>
                <a:latin typeface="Courier New"/>
              </a:defRPr>
            </a:pPr>
            <a:r>
              <a:t>  "subject": { "reference": "Patient/P0001" },</a:t>
            </a:r>
            <a:br/>
            <a:r>
              <a:t>  "effectiveDateTime": "2026-09-09T10:30:00+07:00",</a:t>
            </a:r>
          </a:p>
          <a:p>
            <a:pPr>
              <a:spcBef>
                <a:spcPts val="400"/>
              </a:spcBef>
              <a:defRPr sz="900">
                <a:solidFill>
                  <a:srgbClr val="A6E22E"/>
                </a:solidFill>
                <a:latin typeface="Courier New"/>
              </a:defRPr>
            </a:pPr>
            <a:r>
              <a:t>  "valueQuantity": {</a:t>
            </a:r>
            <a:br/>
            <a:r>
              <a:t>    "value": 118,</a:t>
            </a:r>
            <a:br/>
            <a:r>
              <a:t>    "unit": "mg/dL",</a:t>
            </a:r>
            <a:br/>
            <a:r>
              <a:t>    "system": "http://unitsofmeasure.org",</a:t>
            </a:r>
            <a:br/>
            <a:r>
              <a:t>    "code": "mg/dL"</a:t>
            </a:r>
            <a:br/>
            <a:r>
              <a:t>  },</a:t>
            </a:r>
          </a:p>
          <a:p>
            <a:pPr>
              <a:spcBef>
                <a:spcPts val="400"/>
              </a:spcBef>
              <a:defRPr sz="900">
                <a:solidFill>
                  <a:srgbClr val="A6E22E"/>
                </a:solidFill>
                <a:latin typeface="Courier New"/>
              </a:defRPr>
            </a:pPr>
            <a:r>
              <a:t>  "method": {</a:t>
            </a:r>
            <a:br/>
            <a:r>
              <a:t>    "coding": [{</a:t>
            </a:r>
            <a:br/>
            <a:r>
              <a:t>      "system": "http://snomed.info/sct",</a:t>
            </a:r>
            <a:br/>
            <a:r>
              <a:t>      "code": "439401001",</a:t>
            </a:r>
            <a:br/>
            <a:r>
              <a:t>      "display": "In-vivo Raman spectroscopy"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85C36"/>
                </a:solidFill>
                <a:latin typeface="Arial"/>
              </a:defRPr>
            </a:pPr>
            <a:r>
              <a:t>BRIDGE TO 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E24"/>
                </a:solidFill>
                <a:latin typeface="Arial"/>
              </a:defRPr>
            </a:pPr>
            <a:r>
              <a:t>Closing the Classical Loop &amp; Tech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526458"/>
                </a:solidFill>
                <a:latin typeface="Arial"/>
              </a:defRPr>
            </a:pPr>
            <a:r>
              <a:t>Verify your environment now so the room is 100% ready to run code at 14:00</a:t>
            </a:r>
          </a:p>
        </p:txBody>
      </p:sp>
      <p:pic>
        <p:nvPicPr>
          <p:cNvPr id="6" name="Picture 5" descr="a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293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300">
                <a:solidFill>
                  <a:srgbClr val="94BA33"/>
                </a:solidFill>
              </a:defRPr>
            </a:pPr>
            <a:r>
              <a:t>CLOSING THE LOOP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Predictions Back as FHIR</a:t>
            </a:r>
          </a:p>
          <a:p>
            <a:pPr>
              <a:spcBef>
                <a:spcPts val="1200"/>
              </a:spcBef>
              <a:defRPr sz="1050">
                <a:solidFill>
                  <a:srgbClr val="142118"/>
                </a:solidFill>
                <a:latin typeface="Arial"/>
              </a:defRPr>
            </a:pPr>
            <a:r>
              <a:t>In Step 5c of this afternoon's workshop, clicking 'Send to record' wraps our scikit-learn cancer risk prediction back into a valid FHIR RiskAssessment and Observation resource.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300">
                <a:solidFill>
                  <a:srgbClr val="94BA33"/>
                </a:solidFill>
              </a:defRPr>
            </a:pPr>
            <a:r>
              <a:t>TERMINAL CHECK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Navigate to Repo Root</a:t>
            </a:r>
          </a:p>
          <a:p>
            <a:pPr>
              <a:spcBef>
                <a:spcPts val="1200"/>
              </a:spcBef>
              <a:defRPr sz="1050">
                <a:solidFill>
                  <a:srgbClr val="142118"/>
                </a:solidFill>
                <a:latin typeface="Arial"/>
              </a:defRPr>
            </a:pPr>
            <a:r>
              <a:t>Open your terminal application and verify your current working directory:</a:t>
            </a:r>
            <a:br/>
            <a:br/>
            <a:r>
              <a:t>$ cd fhir-ml-workshop</a:t>
            </a:r>
            <a:br/>
            <a:br/>
            <a:r>
              <a:t>Ensure git branch is clean.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300">
                <a:solidFill>
                  <a:srgbClr val="94BA33"/>
                </a:solidFill>
              </a:defRPr>
            </a:pPr>
            <a:r>
              <a:t>SYNC ENVIRONMENT</a:t>
            </a:r>
          </a:p>
          <a:p>
            <a:pPr>
              <a:spcBef>
                <a:spcPts val="400"/>
              </a:spcBef>
              <a:defRPr b="1" sz="1500">
                <a:solidFill>
                  <a:srgbClr val="1B3E24"/>
                </a:solidFill>
              </a:defRPr>
            </a:pPr>
            <a:r>
              <a:t>Verify Libraries Before Lunch</a:t>
            </a:r>
          </a:p>
          <a:p>
            <a:pPr>
              <a:spcBef>
                <a:spcPts val="1200"/>
              </a:spcBef>
              <a:defRPr sz="1050">
                <a:solidFill>
                  <a:srgbClr val="142118"/>
                </a:solidFill>
                <a:latin typeface="Arial"/>
              </a:defRPr>
            </a:pPr>
            <a:r>
              <a:t>Run the fast package synchronizer from inside the repository:</a:t>
            </a:r>
            <a:br/>
            <a:br/>
            <a:r>
              <a:t>$ uv sync</a:t>
            </a:r>
            <a:br/>
            <a:br/>
            <a:r>
              <a:t>Verify sklearn:</a:t>
            </a:r>
            <a:br/>
            <a:r>
              <a:t>$ uv run python -c "import sklearn; print(sklearn.__version__)"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